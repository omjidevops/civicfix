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 INTRO]
"Respected guide, faculty members, and fellow classmates, good morning. My name is Omji Savita, Roll Number 24116002349, pursuing Bachelor of Computer Applications at PSIT College of Higher Education, Kanpur.
Today, I am proud to present my project titled 'CivicFix: Smart Civic Issue Reporting &amp; Resolution Platform'.
CivicFix is a production-grade full-stack civic governance ecosystem engineered using Spring Boot, React, and MySQL. It modernizes municipal grievance redressal using mathematical urgency prioritization and real-time geospatial duplicate clustering. Let us examine the challenges that motivated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2: BACKGROUND]
"In our cities, civic grievance redressal is crippled by three fundamental bottlenecks:
First, Bureaucratic Opacity: When a citizen reports an overflowing sewer, they have no visibility into who is handling it or when it will be fixed.
Second, Duplicate Ticket Overload: When a pothole appears on a busy road, 15 different residents file 15 separate complaints. Municipal officers waste days manually triaging duplicates.
Third, The FIFO Flaw and Ghost Resolutions: Traditional systems handle complaints First-In, First-Out. A life-threatening open live wire sits behind park grass trimming. Furthermore, contractors often mark tickets resolved on paper without ever visiting the site. CivicFix solves every one of these problems through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3: OBJECTIVES]
"This brings us to our core research and engineering objectives. We set out to design a system that answers: 'How can municipal bodies eliminate spam duplicates, prioritize life-threatening emergencies, enforce photographic resolution proof, and empower citizens with real-time tracking?'
We defined five concrete objectives: geospatial reporting with GPS pinning, intelligent duplicate suppression, dynamic mathematical priority calculation from 0 to 100, verifiable resolution workflows, and enterprise stateless JWT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4: COMPARATIVE ANALYSIS]
"To justify the engineering value of CivicFix, we evaluated it against existing municipal portals like traditional helpline portals. As seen in this comparison matrix:
While existing systems rely on vague text addresses, CivicFix uses GPS coordinates.
While legacy portals suffer from duplicate ticket flooding, CivicFix checks for duplicates within 150 meters before submission.
While traditional systems process tickets FIFO, CivicFix prioritizes issues using a 0–100 urgency score.
And most critically, while contractors often close complaints on paper without fixing them, CivicFix requires mandatory photographic proof and citizen satisfaction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5: 3-TIER ROLES]
"CivicFix enforces a strict three-tier role-based architecture:
Tier 1 is the Citizen: They can register, pin issues on a map, upload photos, upvote community tickets, and earn reputation points.
Tier 2 is the Field Officer: Municipal workers assigned to specific departments. They receive an authenticated queue, accept assignments, and cannot mark a ticket resolved without uploading photographic proof.
Tier 3 is the Administrator: Supervisors who oversee the entire municipality. They verify tickets, route them to departments, monitor SLAs, and review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6: ARCHITECTURE]
"Here is the architectural blueprint of CivicFix. The application follows a decoupled multi-tier enterprise architecture:
At Layer 1, we have a React 18 Single Page Application powered by Vite and Leaflet maps for high performance.
At Layer 2, Spring Security 6 provides stateless JWT authentication, validating user credentials without server-side session overhead.
At Layer 3, Spring Boot REST controllers manage domain operations, delegating to specialized transactional services for priority and duplicate computation.
At Layer 4, Spring Data JPA and Hibernate interact with an ACID-compliant MySQL database through a high-performance HikariCP connection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7: DYNAMIC PRIORITY]
"One of the crowning engineering features of CivicFix is the Smart Priority Service. In traditional systems, complaints sit in a FIFO queue. In CivicFix, we compute a 0 to 100 mathematical priority score combining 4 orthogonal factors:
First, Base Severity: 15 to 75 points directly from severity rating.
Second, Community Votes: Up to 10 points boosted by neighbor upvotes.
Third, Aging Escalation: Every single day a complaint sits unresolved, it gains 1 point up to 10 points, ensuring older tickets are never buried.
Fourth, Hazard Keywords: If safety terms like 'spark', 'collapse', or 'fire' appear, an extra 5-point emergency bonus is added.
The final score maps to SLA tiers: Critical, High, Medium, and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8: GEOSPATIAL DUPLICATES]
"The second major algorithm solves duplicate complaint flooding. We implemented a two-stage filter:
When a citizen selects a location and category, our backend executes the Haversine Great-Circle formula using Earth's radius of 6,371 km.
If an existing complaint in the same category is within 40 meters, it is an immediate duplicate.
If it is between 40 and 150 meters, we apply Jaccard Token Similarity. The text is tokenized into word sets, and if the intersection over union exceeds 0.25, the system warns the citizen before they submit, letting them upvote the existing ticket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9: STATE MACHINE]
"CivicFix enforces a deterministic state machine:
1. SUBMITTED by the citizen.
2. VERIFIED by the administrator who assigns an official department and officer.
3. IN_PROGRESS when the officer accepts the work.
4. RESOLVED: And here is our crucial defense against fraud—an officer CANNOT mark a complaint resolved without uploading photographic proof and remarks. The backend enforces this strictly.
5. CONFIRMED: The final state is confirmed by the reporting citizen, closing the loop and awarding 15 reputation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10: DATABASE]
"Coming to the database design, CivicFix uses MySQL 8.0 normalized to Third Normal Form across 10 specialized tables.
The 'complaints' table stores latitude, longitude, dynamic priority scores, and SLA status.
The 'votes' table has a composite unique constraint to enforce one vote per citizen per ticket.
The 'status_history' table acts as an immutable audit log.
And we use B-tree composite indexes on latitude, longitude, and status to keep geospatial duplicate queries lightning-fast."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11: SECURITY &amp; TESTING]
"Security and quality assurance were paramount during development:
For security: We use BCrypt with cost factor 10 for password encryption, stateless JWT tokens with HMAC-SHA256 signatures, and role-based access control protecting every endpoint.
For verification: The repository is covered by 57 automated unit and integration tests passing at 100%.
These tests rigorously check Haversine boundary calculations, priority formulas, security filters, and resolution proof validations."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12: USER INTERFACE]
"On the frontend, CivicFix provides tailored interfaces for each role:
For Citizens, the interface makes reporting intuitive—they drop a pin on Leaflet map, attach a photo, and immediately see if someone else reported it.
For Field Officers, the responsive layout works on mobile browsers so officers can view coordinates on-site and upload resolution photos directly from their phones.
For Administrators, the dashboard provides municipal-level KPIs, SLA escalation alerts, and assignment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13: FEASIBILITY]
"Looking at feasibility and impact:
Technically, CivicFix is built entirely on open-source, proven industry standards like Spring Boot and React, making deployment cost-effective.
Operationally, the clean UI requires zero training for field staff or citizens.
And economically and socially, it eliminates the massive financial waste of duplicate contractor visits and prevents ghost closures, ensuring taxpayers see real, verified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14: FUTURE SCOPE]
"While CivicFix is already a complete full-stack platform, we have mapped out exciting future enhancements:
1. Computer Vision: To automatically analyze uploaded photos for pothole depth or trash severity.
2. WhatsApp Grievance Bot: Letting citizens drop a location and photo on WhatsApp.
3. IoT Smart City Sensors: For ultrasonic garbage bin sensors that automatically create tickets when full.
4. Native Mobile Applications for offline field worker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15: CONCLUSION]
"In conclusion, CivicFix proves that thoughtful software engineering can solve persistent real-world governance challenges. By replacing blind FIFO queues with mathematical priority scoring, suppressing duplicates with geospatial calculations, and requiring photo proof for ticket closure, CivicFix transforms municipal problem-solving into a transparent, accountable, and citizen-first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 SLIDE 16: Q&amp;A]
"Thank you very much, respected supervisor and examiners. I am now open to your questions and feedback regarding the architecture, algorithms, or implementation of CivicFix."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097280" y="640080"/>
            <a:ext cx="9994392" cy="457200"/>
          </a:xfrm>
          <a:prstGeom prst="roundRect">
            <a:avLst/>
          </a:prstGeom>
          <a:solidFill>
            <a:srgbClr val="1E293B"/>
          </a:solidFill>
          <a:ln w="12700">
            <a:solidFill>
              <a:srgbClr val="334155"/>
            </a:solidFill>
            <a:prstDash val="solid"/>
          </a:ln>
        </p:spPr>
      </p:sp>
      <p:sp>
        <p:nvSpPr>
          <p:cNvPr id="3" name="Text 1"/>
          <p:cNvSpPr/>
          <p:nvPr/>
        </p:nvSpPr>
        <p:spPr>
          <a:xfrm>
            <a:off x="1097280" y="640080"/>
            <a:ext cx="9994392" cy="457200"/>
          </a:xfrm>
          <a:prstGeom prst="rect">
            <a:avLst/>
          </a:prstGeom>
          <a:noFill/>
          <a:ln/>
        </p:spPr>
        <p:txBody>
          <a:bodyPr wrap="square" rtlCol="0" anchor="ctr"/>
          <a:lstStyle/>
          <a:p>
            <a:pPr algn="ctr" indent="0" marL="0">
              <a:buNone/>
            </a:pPr>
            <a:r>
              <a:rPr lang="en-US" sz="1100" b="1" dirty="0">
                <a:solidFill>
                  <a:srgbClr val="94A3B8"/>
                </a:solidFill>
                <a:latin typeface="Arial" pitchFamily="34" charset="0"/>
                <a:ea typeface="Arial" pitchFamily="34" charset="-122"/>
                <a:cs typeface="Arial" pitchFamily="34" charset="-120"/>
              </a:rPr>
              <a:t>CHHATRAPATI SHAHU JI MAHARAJ UNIVERSITY, KANPUR  |  PSIT COLLEGE OF HIGHER EDUCATION</a:t>
            </a:r>
            <a:endParaRPr lang="en-US" sz="1100" dirty="0"/>
          </a:p>
        </p:txBody>
      </p:sp>
      <p:sp>
        <p:nvSpPr>
          <p:cNvPr id="4" name="Text 2"/>
          <p:cNvSpPr/>
          <p:nvPr/>
        </p:nvSpPr>
        <p:spPr>
          <a:xfrm>
            <a:off x="1097280" y="1280160"/>
            <a:ext cx="9994392"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CIVICFIX</a:t>
            </a:r>
            <a:endParaRPr lang="en-US" sz="4400" dirty="0"/>
          </a:p>
        </p:txBody>
      </p:sp>
      <p:sp>
        <p:nvSpPr>
          <p:cNvPr id="5" name="Text 3"/>
          <p:cNvSpPr/>
          <p:nvPr/>
        </p:nvSpPr>
        <p:spPr>
          <a:xfrm>
            <a:off x="1097280" y="2148840"/>
            <a:ext cx="9994392" cy="457200"/>
          </a:xfrm>
          <a:prstGeom prst="rect">
            <a:avLst/>
          </a:prstGeom>
          <a:noFill/>
          <a:ln/>
        </p:spPr>
        <p:txBody>
          <a:bodyPr wrap="square" rtlCol="0" anchor="ctr"/>
          <a:lstStyle/>
          <a:p>
            <a:pPr algn="ctr" indent="0" marL="0">
              <a:buNone/>
            </a:pPr>
            <a:r>
              <a:rPr lang="en-US" sz="2000" b="1" dirty="0">
                <a:solidFill>
                  <a:srgbClr val="60A5FA"/>
                </a:solidFill>
                <a:latin typeface="Arial" pitchFamily="34" charset="0"/>
                <a:ea typeface="Arial" pitchFamily="34" charset="-122"/>
                <a:cs typeface="Arial" pitchFamily="34" charset="-120"/>
              </a:rPr>
              <a:t>Smart Civic Issue Reporting &amp; Resolution Platform</a:t>
            </a:r>
            <a:endParaRPr lang="en-US" sz="2000" dirty="0"/>
          </a:p>
        </p:txBody>
      </p:sp>
      <p:sp>
        <p:nvSpPr>
          <p:cNvPr id="6" name="Text 4"/>
          <p:cNvSpPr/>
          <p:nvPr/>
        </p:nvSpPr>
        <p:spPr>
          <a:xfrm>
            <a:off x="1371600" y="2651760"/>
            <a:ext cx="9445752" cy="548640"/>
          </a:xfrm>
          <a:prstGeom prst="rect">
            <a:avLst/>
          </a:prstGeom>
          <a:noFill/>
          <a:ln/>
        </p:spPr>
        <p:txBody>
          <a:bodyPr wrap="square" rtlCol="0" anchor="ctr"/>
          <a:lstStyle/>
          <a:p>
            <a:pPr algn="ctr" indent="0" marL="0">
              <a:buNone/>
            </a:pPr>
            <a:r>
              <a:rPr lang="en-US" sz="1300" dirty="0">
                <a:solidFill>
                  <a:srgbClr val="CBD5E1"/>
                </a:solidFill>
                <a:latin typeface="Arial" pitchFamily="34" charset="0"/>
                <a:ea typeface="Arial" pitchFamily="34" charset="-122"/>
                <a:cs typeface="Arial" pitchFamily="34" charset="-120"/>
              </a:rPr>
              <a:t>An Enterprise Full-Stack Municipal Grievance Ecosystem with Real-Time Geospatial Duplicate Detection &amp; Dynamic SLA Priority Scoring</a:t>
            </a:r>
            <a:endParaRPr lang="en-US" sz="1300" dirty="0"/>
          </a:p>
        </p:txBody>
      </p:sp>
      <p:sp>
        <p:nvSpPr>
          <p:cNvPr id="7" name="Shape 5"/>
          <p:cNvSpPr/>
          <p:nvPr/>
        </p:nvSpPr>
        <p:spPr>
          <a:xfrm>
            <a:off x="3474720" y="3337560"/>
            <a:ext cx="5239512" cy="365760"/>
          </a:xfrm>
          <a:prstGeom prst="roundRect">
            <a:avLst/>
          </a:prstGeom>
          <a:solidFill>
            <a:srgbClr val="1E3A8A"/>
          </a:solidFill>
          <a:ln w="12700">
            <a:solidFill>
              <a:srgbClr val="3B82F6"/>
            </a:solidFill>
            <a:prstDash val="solid"/>
          </a:ln>
        </p:spPr>
      </p:sp>
      <p:sp>
        <p:nvSpPr>
          <p:cNvPr id="8" name="Text 6"/>
          <p:cNvSpPr/>
          <p:nvPr/>
        </p:nvSpPr>
        <p:spPr>
          <a:xfrm>
            <a:off x="3474720" y="3337560"/>
            <a:ext cx="5239512" cy="365760"/>
          </a:xfrm>
          <a:prstGeom prst="rect">
            <a:avLst/>
          </a:prstGeom>
          <a:noFill/>
          <a:ln/>
        </p:spPr>
        <p:txBody>
          <a:bodyPr wrap="square" rtlCol="0" anchor="ctr"/>
          <a:lstStyle/>
          <a:p>
            <a:pPr algn="ctr" indent="0" marL="0">
              <a:buNone/>
            </a:pPr>
            <a:r>
              <a:rPr lang="en-US" sz="1000" b="1" dirty="0">
                <a:solidFill>
                  <a:srgbClr val="DBEAFE"/>
                </a:solidFill>
                <a:latin typeface="Arial" pitchFamily="34" charset="0"/>
                <a:ea typeface="Arial" pitchFamily="34" charset="-122"/>
                <a:cs typeface="Arial" pitchFamily="34" charset="-120"/>
              </a:rPr>
              <a:t>BACHELOR OF COMPUTER APPLICATIONS (BCA) PROJECT PRESENTATION</a:t>
            </a:r>
            <a:endParaRPr lang="en-US" sz="1000" dirty="0"/>
          </a:p>
        </p:txBody>
      </p:sp>
      <p:sp>
        <p:nvSpPr>
          <p:cNvPr id="9" name="Shape 7"/>
          <p:cNvSpPr/>
          <p:nvPr/>
        </p:nvSpPr>
        <p:spPr>
          <a:xfrm>
            <a:off x="1645920" y="4023360"/>
            <a:ext cx="4114800" cy="2011680"/>
          </a:xfrm>
          <a:prstGeom prst="roundRect">
            <a:avLst/>
          </a:prstGeom>
          <a:solidFill>
            <a:srgbClr val="1E293B"/>
          </a:solidFill>
          <a:ln w="19050">
            <a:solidFill>
              <a:srgbClr val="334155"/>
            </a:solidFill>
            <a:prstDash val="solid"/>
          </a:ln>
        </p:spPr>
      </p:sp>
      <p:sp>
        <p:nvSpPr>
          <p:cNvPr id="10" name="Text 8"/>
          <p:cNvSpPr/>
          <p:nvPr/>
        </p:nvSpPr>
        <p:spPr>
          <a:xfrm>
            <a:off x="1828800" y="4206240"/>
            <a:ext cx="374904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PRESENTED BY</a:t>
            </a:r>
            <a:endParaRPr lang="en-US" sz="1000" dirty="0"/>
          </a:p>
        </p:txBody>
      </p:sp>
      <p:sp>
        <p:nvSpPr>
          <p:cNvPr id="11" name="Text 9"/>
          <p:cNvSpPr/>
          <p:nvPr/>
        </p:nvSpPr>
        <p:spPr>
          <a:xfrm>
            <a:off x="1828800" y="4526280"/>
            <a:ext cx="374904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Omji Savita</a:t>
            </a:r>
            <a:endParaRPr lang="en-US" sz="1800" dirty="0"/>
          </a:p>
        </p:txBody>
      </p:sp>
      <p:sp>
        <p:nvSpPr>
          <p:cNvPr id="12" name="Text 10"/>
          <p:cNvSpPr/>
          <p:nvPr/>
        </p:nvSpPr>
        <p:spPr>
          <a:xfrm>
            <a:off x="1828800" y="4983480"/>
            <a:ext cx="3749040" cy="822960"/>
          </a:xfrm>
          <a:prstGeom prst="rect">
            <a:avLst/>
          </a:prstGeom>
          <a:noFill/>
          <a:ln/>
        </p:spPr>
        <p:txBody>
          <a:bodyPr wrap="square" rtlCol="0" anchor="ctr"/>
          <a:lstStyle/>
          <a:p>
            <a:pPr indent="0" marL="0">
              <a:lnSpc>
                <a:spcPts val="1800"/>
              </a:lnSpc>
              <a:buNone/>
            </a:pPr>
            <a:r>
              <a:rPr lang="en-US" sz="1100" dirty="0">
                <a:solidFill>
                  <a:srgbClr val="CBD5E1"/>
                </a:solidFill>
                <a:latin typeface="Arial" pitchFamily="34" charset="0"/>
                <a:ea typeface="Arial" pitchFamily="34" charset="-122"/>
                <a:cs typeface="Arial" pitchFamily="34" charset="-120"/>
              </a:rPr>
              <a:t>Roll No: 24116002349</a:t>
            </a:r>
            <a:endParaRPr lang="en-US" sz="1100" dirty="0"/>
          </a:p>
          <a:p>
            <a:pPr indent="0" marL="0">
              <a:lnSpc>
                <a:spcPts val="1800"/>
              </a:lnSpc>
              <a:buNone/>
            </a:pPr>
            <a:r>
              <a:rPr lang="en-US" sz="1100" dirty="0">
                <a:solidFill>
                  <a:srgbClr val="CBD5E1"/>
                </a:solidFill>
                <a:latin typeface="Arial" pitchFamily="34" charset="0"/>
                <a:ea typeface="Arial" pitchFamily="34" charset="-122"/>
                <a:cs typeface="Arial" pitchFamily="34" charset="-120"/>
              </a:rPr>
              <a:t>Degree: BCA (Semester V / VI)</a:t>
            </a:r>
            <a:endParaRPr lang="en-US" sz="1100" dirty="0"/>
          </a:p>
          <a:p>
            <a:pPr indent="0" marL="0">
              <a:lnSpc>
                <a:spcPts val="1800"/>
              </a:lnSpc>
              <a:buNone/>
            </a:pPr>
            <a:r>
              <a:rPr lang="en-US" sz="1100" dirty="0">
                <a:solidFill>
                  <a:srgbClr val="CBD5E1"/>
                </a:solidFill>
                <a:latin typeface="Arial" pitchFamily="34" charset="0"/>
                <a:ea typeface="Arial" pitchFamily="34" charset="-122"/>
                <a:cs typeface="Arial" pitchFamily="34" charset="-120"/>
              </a:rPr>
              <a:t>PSIT College of Higher Education, Kanpur</a:t>
            </a:r>
            <a:endParaRPr lang="en-US" sz="1100" dirty="0"/>
          </a:p>
        </p:txBody>
      </p:sp>
      <p:sp>
        <p:nvSpPr>
          <p:cNvPr id="13" name="Shape 11"/>
          <p:cNvSpPr/>
          <p:nvPr/>
        </p:nvSpPr>
        <p:spPr>
          <a:xfrm>
            <a:off x="6428232" y="4023360"/>
            <a:ext cx="4114800" cy="2011680"/>
          </a:xfrm>
          <a:prstGeom prst="roundRect">
            <a:avLst/>
          </a:prstGeom>
          <a:solidFill>
            <a:srgbClr val="1E293B"/>
          </a:solidFill>
          <a:ln w="19050">
            <a:solidFill>
              <a:srgbClr val="334155"/>
            </a:solidFill>
            <a:prstDash val="solid"/>
          </a:ln>
        </p:spPr>
      </p:sp>
      <p:sp>
        <p:nvSpPr>
          <p:cNvPr id="14" name="Text 12"/>
          <p:cNvSpPr/>
          <p:nvPr/>
        </p:nvSpPr>
        <p:spPr>
          <a:xfrm>
            <a:off x="6611112" y="4206240"/>
            <a:ext cx="3749040" cy="274320"/>
          </a:xfrm>
          <a:prstGeom prst="rect">
            <a:avLst/>
          </a:prstGeom>
          <a:noFill/>
          <a:ln/>
        </p:spPr>
        <p:txBody>
          <a:bodyPr wrap="square" rtlCol="0" anchor="ctr"/>
          <a:lstStyle/>
          <a:p>
            <a:pPr indent="0" marL="0">
              <a:buNone/>
            </a:pPr>
            <a:r>
              <a:rPr lang="en-US" sz="1000" b="1" dirty="0">
                <a:solidFill>
                  <a:srgbClr val="94A3B8"/>
                </a:solidFill>
                <a:latin typeface="Arial" pitchFamily="34" charset="0"/>
                <a:ea typeface="Arial" pitchFamily="34" charset="-122"/>
                <a:cs typeface="Arial" pitchFamily="34" charset="-120"/>
              </a:rPr>
              <a:t>UNDER THE SUPERVISION OF</a:t>
            </a:r>
            <a:endParaRPr lang="en-US" sz="1000" dirty="0"/>
          </a:p>
        </p:txBody>
      </p:sp>
      <p:sp>
        <p:nvSpPr>
          <p:cNvPr id="15" name="Text 13"/>
          <p:cNvSpPr/>
          <p:nvPr/>
        </p:nvSpPr>
        <p:spPr>
          <a:xfrm>
            <a:off x="6611112" y="4526280"/>
            <a:ext cx="3749040" cy="4114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Prof. Sandeepp Agarwal</a:t>
            </a:r>
            <a:endParaRPr lang="en-US" sz="1800" dirty="0"/>
          </a:p>
        </p:txBody>
      </p:sp>
      <p:sp>
        <p:nvSpPr>
          <p:cNvPr id="16" name="Text 14"/>
          <p:cNvSpPr/>
          <p:nvPr/>
        </p:nvSpPr>
        <p:spPr>
          <a:xfrm>
            <a:off x="6611112" y="4983480"/>
            <a:ext cx="3749040" cy="822960"/>
          </a:xfrm>
          <a:prstGeom prst="rect">
            <a:avLst/>
          </a:prstGeom>
          <a:noFill/>
          <a:ln/>
        </p:spPr>
        <p:txBody>
          <a:bodyPr wrap="square" rtlCol="0" anchor="ctr"/>
          <a:lstStyle/>
          <a:p>
            <a:pPr indent="0" marL="0">
              <a:lnSpc>
                <a:spcPts val="1800"/>
              </a:lnSpc>
              <a:buNone/>
            </a:pPr>
            <a:r>
              <a:rPr lang="en-US" sz="1100" dirty="0">
                <a:solidFill>
                  <a:srgbClr val="CBD5E1"/>
                </a:solidFill>
                <a:latin typeface="Arial" pitchFamily="34" charset="0"/>
                <a:ea typeface="Arial" pitchFamily="34" charset="-122"/>
                <a:cs typeface="Arial" pitchFamily="34" charset="-120"/>
              </a:rPr>
              <a:t>Assistant Professor / Project Guide</a:t>
            </a:r>
            <a:endParaRPr lang="en-US" sz="1100" dirty="0"/>
          </a:p>
          <a:p>
            <a:pPr indent="0" marL="0">
              <a:lnSpc>
                <a:spcPts val="1800"/>
              </a:lnSpc>
              <a:buNone/>
            </a:pPr>
            <a:r>
              <a:rPr lang="en-US" sz="1100" dirty="0">
                <a:solidFill>
                  <a:srgbClr val="CBD5E1"/>
                </a:solidFill>
                <a:latin typeface="Arial" pitchFamily="34" charset="0"/>
                <a:ea typeface="Arial" pitchFamily="34" charset="-122"/>
                <a:cs typeface="Arial" pitchFamily="34" charset="-120"/>
              </a:rPr>
              <a:t>Department of Computer Applications</a:t>
            </a:r>
            <a:endParaRPr lang="en-US" sz="1100" dirty="0"/>
          </a:p>
          <a:p>
            <a:pPr indent="0" marL="0">
              <a:lnSpc>
                <a:spcPts val="1800"/>
              </a:lnSpc>
              <a:buNone/>
            </a:pPr>
            <a:r>
              <a:rPr lang="en-US" sz="1100" dirty="0">
                <a:solidFill>
                  <a:srgbClr val="CBD5E1"/>
                </a:solidFill>
                <a:latin typeface="Arial" pitchFamily="34" charset="0"/>
                <a:ea typeface="Arial" pitchFamily="34" charset="-122"/>
                <a:cs typeface="Arial" pitchFamily="34" charset="-120"/>
              </a:rPr>
              <a:t>PSIT College of Higher Education, Kanpur</a:t>
            </a:r>
            <a:endParaRPr lang="en-US" sz="1100" dirty="0"/>
          </a:p>
        </p:txBody>
      </p:sp>
      <p:sp>
        <p:nvSpPr>
          <p:cNvPr id="17" name="Text 15"/>
          <p:cNvSpPr/>
          <p:nvPr/>
        </p:nvSpPr>
        <p:spPr>
          <a:xfrm>
            <a:off x="1097280" y="6263640"/>
            <a:ext cx="9994392" cy="32004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October 2026 | Kanpur, Uttar Pradesh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1: CONTEXT &amp; NEED</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The Civic Governance Crisis: Why We Need CivicFix</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2 / 16</a:t>
            </a:r>
            <a:endParaRPr lang="en-US" sz="900" dirty="0"/>
          </a:p>
        </p:txBody>
      </p:sp>
      <p:sp>
        <p:nvSpPr>
          <p:cNvPr id="8" name="Shape 6"/>
          <p:cNvSpPr/>
          <p:nvPr/>
        </p:nvSpPr>
        <p:spPr>
          <a:xfrm>
            <a:off x="731520" y="1554480"/>
            <a:ext cx="3383280" cy="4389120"/>
          </a:xfrm>
          <a:prstGeom prst="roundRect">
            <a:avLst/>
          </a:prstGeom>
          <a:solidFill>
            <a:srgbClr val="FFFFFF"/>
          </a:solidFill>
          <a:ln w="19050">
            <a:solidFill>
              <a:srgbClr val="E2E8F0"/>
            </a:solidFill>
            <a:prstDash val="solid"/>
          </a:ln>
        </p:spPr>
      </p:sp>
      <p:sp>
        <p:nvSpPr>
          <p:cNvPr id="9" name="Shape 7"/>
          <p:cNvSpPr/>
          <p:nvPr/>
        </p:nvSpPr>
        <p:spPr>
          <a:xfrm>
            <a:off x="731520" y="1554480"/>
            <a:ext cx="3383280" cy="548640"/>
          </a:xfrm>
          <a:prstGeom prst="roundRect">
            <a:avLst/>
          </a:prstGeom>
          <a:solidFill>
            <a:srgbClr val="E11D48"/>
          </a:solidFill>
          <a:ln/>
        </p:spPr>
      </p:sp>
      <p:sp>
        <p:nvSpPr>
          <p:cNvPr id="10" name="Text 8"/>
          <p:cNvSpPr/>
          <p:nvPr/>
        </p:nvSpPr>
        <p:spPr>
          <a:xfrm>
            <a:off x="914400" y="1554480"/>
            <a:ext cx="301752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Opaque Bureaucracy</a:t>
            </a:r>
            <a:endParaRPr lang="en-US" sz="1400" dirty="0"/>
          </a:p>
        </p:txBody>
      </p:sp>
      <p:sp>
        <p:nvSpPr>
          <p:cNvPr id="11" name="Text 9"/>
          <p:cNvSpPr/>
          <p:nvPr/>
        </p:nvSpPr>
        <p:spPr>
          <a:xfrm>
            <a:off x="1005840" y="2286000"/>
            <a:ext cx="2834640" cy="3474720"/>
          </a:xfrm>
          <a:prstGeom prst="rect">
            <a:avLst/>
          </a:prstGeom>
          <a:noFill/>
          <a:ln/>
        </p:spPr>
        <p:txBody>
          <a:bodyPr wrap="square" rtlCol="0" anchor="ctr"/>
          <a:lstStyle/>
          <a:p>
            <a:pPr indent="0" marL="0">
              <a:lnSpc>
                <a:spcPts val="2000"/>
              </a:lnSpc>
              <a:buNone/>
            </a:pPr>
            <a:r>
              <a:rPr lang="en-US" sz="1200" dirty="0">
                <a:solidFill>
                  <a:srgbClr val="0F172A"/>
                </a:solidFill>
                <a:latin typeface="Arial" pitchFamily="34" charset="0"/>
                <a:ea typeface="Arial" pitchFamily="34" charset="-122"/>
                <a:cs typeface="Arial" pitchFamily="34" charset="-120"/>
              </a:rPr>
              <a:t>•  Citizens submit complaints into a municipal "black hole" with no tracking.</a:t>
            </a:r>
            <a:endParaRPr lang="en-US" sz="1200" dirty="0"/>
          </a:p>
          <a:p>
            <a:pPr indent="0" marL="0">
              <a:lnSpc>
                <a:spcPts val="2000"/>
              </a:lnSpc>
              <a:buNone/>
            </a:pPr>
            <a:endParaRPr lang="en-US" sz="1200" dirty="0"/>
          </a:p>
          <a:p>
            <a:pPr indent="0" marL="0">
              <a:lnSpc>
                <a:spcPts val="2000"/>
              </a:lnSpc>
              <a:buNone/>
            </a:pPr>
            <a:r>
              <a:rPr lang="en-US" sz="1200" dirty="0">
                <a:solidFill>
                  <a:srgbClr val="0F172A"/>
                </a:solidFill>
                <a:latin typeface="Arial" pitchFamily="34" charset="0"/>
                <a:ea typeface="Arial" pitchFamily="34" charset="-122"/>
                <a:cs typeface="Arial" pitchFamily="34" charset="-120"/>
              </a:rPr>
              <a:t>•  Zero visibility into assigned department, contractor, or officer.</a:t>
            </a:r>
            <a:endParaRPr lang="en-US" sz="1200" dirty="0"/>
          </a:p>
          <a:p>
            <a:pPr indent="0" marL="0">
              <a:lnSpc>
                <a:spcPts val="2000"/>
              </a:lnSpc>
              <a:buNone/>
            </a:pPr>
            <a:endParaRPr lang="en-US" sz="1200" dirty="0"/>
          </a:p>
          <a:p>
            <a:pPr indent="0" marL="0">
              <a:lnSpc>
                <a:spcPts val="2000"/>
              </a:lnSpc>
              <a:buNone/>
            </a:pPr>
            <a:r>
              <a:rPr lang="en-US" sz="1200" dirty="0">
                <a:solidFill>
                  <a:srgbClr val="0F172A"/>
                </a:solidFill>
                <a:latin typeface="Arial" pitchFamily="34" charset="0"/>
                <a:ea typeface="Arial" pitchFamily="34" charset="-122"/>
                <a:cs typeface="Arial" pitchFamily="34" charset="-120"/>
              </a:rPr>
              <a:t>•  No expected SLA or resolution deadline provided to taxpayers.</a:t>
            </a:r>
            <a:endParaRPr lang="en-US" sz="1200" dirty="0"/>
          </a:p>
        </p:txBody>
      </p:sp>
      <p:sp>
        <p:nvSpPr>
          <p:cNvPr id="12" name="Shape 10"/>
          <p:cNvSpPr/>
          <p:nvPr/>
        </p:nvSpPr>
        <p:spPr>
          <a:xfrm>
            <a:off x="4389120" y="1554480"/>
            <a:ext cx="3383280" cy="4389120"/>
          </a:xfrm>
          <a:prstGeom prst="roundRect">
            <a:avLst/>
          </a:prstGeom>
          <a:solidFill>
            <a:srgbClr val="FFFFFF"/>
          </a:solidFill>
          <a:ln w="19050">
            <a:solidFill>
              <a:srgbClr val="E2E8F0"/>
            </a:solidFill>
            <a:prstDash val="solid"/>
          </a:ln>
        </p:spPr>
      </p:sp>
      <p:sp>
        <p:nvSpPr>
          <p:cNvPr id="13" name="Shape 11"/>
          <p:cNvSpPr/>
          <p:nvPr/>
        </p:nvSpPr>
        <p:spPr>
          <a:xfrm>
            <a:off x="4389120" y="1554480"/>
            <a:ext cx="3383280" cy="548640"/>
          </a:xfrm>
          <a:prstGeom prst="roundRect">
            <a:avLst/>
          </a:prstGeom>
          <a:solidFill>
            <a:srgbClr val="D97706"/>
          </a:solidFill>
          <a:ln/>
        </p:spPr>
      </p:sp>
      <p:sp>
        <p:nvSpPr>
          <p:cNvPr id="14" name="Text 12"/>
          <p:cNvSpPr/>
          <p:nvPr/>
        </p:nvSpPr>
        <p:spPr>
          <a:xfrm>
            <a:off x="4572000" y="1554480"/>
            <a:ext cx="301752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Duplicate &amp; Spam Overload</a:t>
            </a:r>
            <a:endParaRPr lang="en-US" sz="1400" dirty="0"/>
          </a:p>
        </p:txBody>
      </p:sp>
      <p:sp>
        <p:nvSpPr>
          <p:cNvPr id="15" name="Text 13"/>
          <p:cNvSpPr/>
          <p:nvPr/>
        </p:nvSpPr>
        <p:spPr>
          <a:xfrm>
            <a:off x="4663440" y="2286000"/>
            <a:ext cx="2834640" cy="3474720"/>
          </a:xfrm>
          <a:prstGeom prst="rect">
            <a:avLst/>
          </a:prstGeom>
          <a:noFill/>
          <a:ln/>
        </p:spPr>
        <p:txBody>
          <a:bodyPr wrap="square" rtlCol="0" anchor="ctr"/>
          <a:lstStyle/>
          <a:p>
            <a:pPr indent="0" marL="0">
              <a:lnSpc>
                <a:spcPts val="2000"/>
              </a:lnSpc>
              <a:buNone/>
            </a:pPr>
            <a:r>
              <a:rPr lang="en-US" sz="1200" dirty="0">
                <a:solidFill>
                  <a:srgbClr val="0F172A"/>
                </a:solidFill>
                <a:latin typeface="Arial" pitchFamily="34" charset="0"/>
                <a:ea typeface="Arial" pitchFamily="34" charset="-122"/>
                <a:cs typeface="Arial" pitchFamily="34" charset="-120"/>
              </a:rPr>
              <a:t>•  Multiple neighbors report the exact same water leak or pothole.</a:t>
            </a:r>
            <a:endParaRPr lang="en-US" sz="1200" dirty="0"/>
          </a:p>
          <a:p>
            <a:pPr indent="0" marL="0">
              <a:lnSpc>
                <a:spcPts val="2000"/>
              </a:lnSpc>
              <a:buNone/>
            </a:pPr>
            <a:endParaRPr lang="en-US" sz="1200" dirty="0"/>
          </a:p>
          <a:p>
            <a:pPr indent="0" marL="0">
              <a:lnSpc>
                <a:spcPts val="2000"/>
              </a:lnSpc>
              <a:buNone/>
            </a:pPr>
            <a:r>
              <a:rPr lang="en-US" sz="1200" dirty="0">
                <a:solidFill>
                  <a:srgbClr val="0F172A"/>
                </a:solidFill>
                <a:latin typeface="Arial" pitchFamily="34" charset="0"/>
                <a:ea typeface="Arial" pitchFamily="34" charset="-122"/>
                <a:cs typeface="Arial" pitchFamily="34" charset="-120"/>
              </a:rPr>
              <a:t>•  Field departments are inundated with 10+ tickets for 1 incident.</a:t>
            </a:r>
            <a:endParaRPr lang="en-US" sz="1200" dirty="0"/>
          </a:p>
          <a:p>
            <a:pPr indent="0" marL="0">
              <a:lnSpc>
                <a:spcPts val="2000"/>
              </a:lnSpc>
              <a:buNone/>
            </a:pPr>
            <a:endParaRPr lang="en-US" sz="1200" dirty="0"/>
          </a:p>
          <a:p>
            <a:pPr indent="0" marL="0">
              <a:lnSpc>
                <a:spcPts val="2000"/>
              </a:lnSpc>
              <a:buNone/>
            </a:pPr>
            <a:r>
              <a:rPr lang="en-US" sz="1200" dirty="0">
                <a:solidFill>
                  <a:srgbClr val="0F172A"/>
                </a:solidFill>
                <a:latin typeface="Arial" pitchFamily="34" charset="0"/>
                <a:ea typeface="Arial" pitchFamily="34" charset="-122"/>
                <a:cs typeface="Arial" pitchFamily="34" charset="-120"/>
              </a:rPr>
              <a:t>•  Wastes administrative manpower on manual verification &amp; triage.</a:t>
            </a:r>
            <a:endParaRPr lang="en-US" sz="1200" dirty="0"/>
          </a:p>
        </p:txBody>
      </p:sp>
      <p:sp>
        <p:nvSpPr>
          <p:cNvPr id="16" name="Shape 14"/>
          <p:cNvSpPr/>
          <p:nvPr/>
        </p:nvSpPr>
        <p:spPr>
          <a:xfrm>
            <a:off x="8046720" y="1554480"/>
            <a:ext cx="3383280" cy="4389120"/>
          </a:xfrm>
          <a:prstGeom prst="roundRect">
            <a:avLst/>
          </a:prstGeom>
          <a:solidFill>
            <a:srgbClr val="FFFFFF"/>
          </a:solidFill>
          <a:ln w="19050">
            <a:solidFill>
              <a:srgbClr val="E2E8F0"/>
            </a:solidFill>
            <a:prstDash val="solid"/>
          </a:ln>
        </p:spPr>
      </p:sp>
      <p:sp>
        <p:nvSpPr>
          <p:cNvPr id="17" name="Shape 15"/>
          <p:cNvSpPr/>
          <p:nvPr/>
        </p:nvSpPr>
        <p:spPr>
          <a:xfrm>
            <a:off x="8046720" y="1554480"/>
            <a:ext cx="3383280" cy="548640"/>
          </a:xfrm>
          <a:prstGeom prst="roundRect">
            <a:avLst/>
          </a:prstGeom>
          <a:solidFill>
            <a:srgbClr val="7C3AED"/>
          </a:solidFill>
          <a:ln/>
        </p:spPr>
      </p:sp>
      <p:sp>
        <p:nvSpPr>
          <p:cNvPr id="18" name="Text 16"/>
          <p:cNvSpPr/>
          <p:nvPr/>
        </p:nvSpPr>
        <p:spPr>
          <a:xfrm>
            <a:off x="8229600" y="1554480"/>
            <a:ext cx="3017520" cy="5486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FIFO Flaw &amp; Ghost Closures</a:t>
            </a:r>
            <a:endParaRPr lang="en-US" sz="1400" dirty="0"/>
          </a:p>
        </p:txBody>
      </p:sp>
      <p:sp>
        <p:nvSpPr>
          <p:cNvPr id="19" name="Text 17"/>
          <p:cNvSpPr/>
          <p:nvPr/>
        </p:nvSpPr>
        <p:spPr>
          <a:xfrm>
            <a:off x="8321040" y="2286000"/>
            <a:ext cx="2834640" cy="3474720"/>
          </a:xfrm>
          <a:prstGeom prst="rect">
            <a:avLst/>
          </a:prstGeom>
          <a:noFill/>
          <a:ln/>
        </p:spPr>
        <p:txBody>
          <a:bodyPr wrap="square" rtlCol="0" anchor="ctr"/>
          <a:lstStyle/>
          <a:p>
            <a:pPr indent="0" marL="0">
              <a:lnSpc>
                <a:spcPts val="2000"/>
              </a:lnSpc>
              <a:buNone/>
            </a:pPr>
            <a:r>
              <a:rPr lang="en-US" sz="1200" dirty="0">
                <a:solidFill>
                  <a:srgbClr val="0F172A"/>
                </a:solidFill>
                <a:latin typeface="Arial" pitchFamily="34" charset="0"/>
                <a:ea typeface="Arial" pitchFamily="34" charset="-122"/>
                <a:cs typeface="Arial" pitchFamily="34" charset="-120"/>
              </a:rPr>
              <a:t>•  Urgent hazards (live electrical wires) wait behind cosmetic complaints.</a:t>
            </a:r>
            <a:endParaRPr lang="en-US" sz="1200" dirty="0"/>
          </a:p>
          <a:p>
            <a:pPr indent="0" marL="0">
              <a:lnSpc>
                <a:spcPts val="2000"/>
              </a:lnSpc>
              <a:buNone/>
            </a:pPr>
            <a:endParaRPr lang="en-US" sz="1200" dirty="0"/>
          </a:p>
          <a:p>
            <a:pPr indent="0" marL="0">
              <a:lnSpc>
                <a:spcPts val="2000"/>
              </a:lnSpc>
              <a:buNone/>
            </a:pPr>
            <a:r>
              <a:rPr lang="en-US" sz="1200" dirty="0">
                <a:solidFill>
                  <a:srgbClr val="0F172A"/>
                </a:solidFill>
                <a:latin typeface="Arial" pitchFamily="34" charset="0"/>
                <a:ea typeface="Arial" pitchFamily="34" charset="-122"/>
                <a:cs typeface="Arial" pitchFamily="34" charset="-120"/>
              </a:rPr>
              <a:t>•  Contractors mark tickets "Resolved" on paper without proof.</a:t>
            </a:r>
            <a:endParaRPr lang="en-US" sz="1200" dirty="0"/>
          </a:p>
          <a:p>
            <a:pPr indent="0" marL="0">
              <a:lnSpc>
                <a:spcPts val="2000"/>
              </a:lnSpc>
              <a:buNone/>
            </a:pPr>
            <a:endParaRPr lang="en-US" sz="1200" dirty="0"/>
          </a:p>
          <a:p>
            <a:pPr indent="0" marL="0">
              <a:lnSpc>
                <a:spcPts val="2000"/>
              </a:lnSpc>
              <a:buNone/>
            </a:pPr>
            <a:r>
              <a:rPr lang="en-US" sz="1200" dirty="0">
                <a:solidFill>
                  <a:srgbClr val="0F172A"/>
                </a:solidFill>
                <a:latin typeface="Arial" pitchFamily="34" charset="0"/>
                <a:ea typeface="Arial" pitchFamily="34" charset="-122"/>
                <a:cs typeface="Arial" pitchFamily="34" charset="-120"/>
              </a:rPr>
              <a:t>•  No citizen satisfaction feedback loop or civic accountability.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1: OBJECTIVES</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Problem Statement &amp; Academic Project Scope</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3 / 16</a:t>
            </a:r>
            <a:endParaRPr lang="en-US" sz="900" dirty="0"/>
          </a:p>
        </p:txBody>
      </p:sp>
      <p:sp>
        <p:nvSpPr>
          <p:cNvPr id="8" name="Shape 6"/>
          <p:cNvSpPr/>
          <p:nvPr/>
        </p:nvSpPr>
        <p:spPr>
          <a:xfrm>
            <a:off x="731520" y="1554480"/>
            <a:ext cx="5120640" cy="4572000"/>
          </a:xfrm>
          <a:prstGeom prst="roundRect">
            <a:avLst/>
          </a:prstGeom>
          <a:solidFill>
            <a:srgbClr val="FFFFFF"/>
          </a:solidFill>
          <a:ln w="19050">
            <a:solidFill>
              <a:srgbClr val="E2E8F0"/>
            </a:solidFill>
            <a:prstDash val="solid"/>
          </a:ln>
        </p:spPr>
      </p:sp>
      <p:sp>
        <p:nvSpPr>
          <p:cNvPr id="9" name="Text 7"/>
          <p:cNvSpPr/>
          <p:nvPr/>
        </p:nvSpPr>
        <p:spPr>
          <a:xfrm>
            <a:off x="1005840" y="1737360"/>
            <a:ext cx="4572000" cy="365760"/>
          </a:xfrm>
          <a:prstGeom prst="rect">
            <a:avLst/>
          </a:prstGeom>
          <a:noFill/>
          <a:ln/>
        </p:spPr>
        <p:txBody>
          <a:bodyPr wrap="square" rtlCol="0" anchor="ctr"/>
          <a:lstStyle/>
          <a:p>
            <a:pPr indent="0" marL="0">
              <a:buNone/>
            </a:pPr>
            <a:r>
              <a:rPr lang="en-US" sz="1600" b="1" dirty="0">
                <a:solidFill>
                  <a:srgbClr val="E11D48"/>
                </a:solidFill>
                <a:latin typeface="Arial" pitchFamily="34" charset="0"/>
                <a:ea typeface="Arial" pitchFamily="34" charset="-122"/>
                <a:cs typeface="Arial" pitchFamily="34" charset="-120"/>
              </a:rPr>
              <a:t>Core Problem Statement</a:t>
            </a:r>
            <a:endParaRPr lang="en-US" sz="1600" dirty="0"/>
          </a:p>
        </p:txBody>
      </p:sp>
      <p:sp>
        <p:nvSpPr>
          <p:cNvPr id="10" name="Text 8"/>
          <p:cNvSpPr/>
          <p:nvPr/>
        </p:nvSpPr>
        <p:spPr>
          <a:xfrm>
            <a:off x="1005840" y="2194560"/>
            <a:ext cx="4572000" cy="1371600"/>
          </a:xfrm>
          <a:prstGeom prst="rect">
            <a:avLst/>
          </a:prstGeom>
          <a:noFill/>
          <a:ln/>
        </p:spPr>
        <p:txBody>
          <a:bodyPr wrap="square" rtlCol="0" anchor="ctr"/>
          <a:lstStyle/>
          <a:p>
            <a:pPr indent="0" marL="0">
              <a:lnSpc>
                <a:spcPts val="2000"/>
              </a:lnSpc>
              <a:buNone/>
            </a:pPr>
            <a:r>
              <a:rPr lang="en-US" sz="1300" i="1" dirty="0">
                <a:solidFill>
                  <a:srgbClr val="475569"/>
                </a:solidFill>
                <a:latin typeface="Arial" pitchFamily="34" charset="0"/>
                <a:ea typeface="Arial" pitchFamily="34" charset="-122"/>
                <a:cs typeface="Arial" pitchFamily="34" charset="-120"/>
              </a:rPr>
              <a:t>"How can municipal corporations systematically eliminate ticket duplication, dynamically prioritize life-threatening civic emergencies, enforce photographic resolution proof, and empower citizens with transparent real-time tracking across diverse administrative roles?"</a:t>
            </a:r>
            <a:endParaRPr lang="en-US" sz="1300" dirty="0"/>
          </a:p>
        </p:txBody>
      </p:sp>
      <p:sp>
        <p:nvSpPr>
          <p:cNvPr id="11" name="Text 9"/>
          <p:cNvSpPr/>
          <p:nvPr/>
        </p:nvSpPr>
        <p:spPr>
          <a:xfrm>
            <a:off x="1005840" y="3657600"/>
            <a:ext cx="4572000" cy="3200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System Boundaries &amp; Academic Constraints:</a:t>
            </a:r>
            <a:endParaRPr lang="en-US" sz="1200" dirty="0"/>
          </a:p>
        </p:txBody>
      </p:sp>
      <p:sp>
        <p:nvSpPr>
          <p:cNvPr id="12" name="Text 10"/>
          <p:cNvSpPr/>
          <p:nvPr/>
        </p:nvSpPr>
        <p:spPr>
          <a:xfrm>
            <a:off x="1005840" y="4023360"/>
            <a:ext cx="4572000" cy="1920240"/>
          </a:xfrm>
          <a:prstGeom prst="rect">
            <a:avLst/>
          </a:prstGeom>
          <a:noFill/>
          <a:ln/>
        </p:spPr>
        <p:txBody>
          <a:bodyPr wrap="square" rtlCol="0" anchor="ctr"/>
          <a:lstStyle/>
          <a:p>
            <a:pPr indent="0" marL="0">
              <a:lnSpc>
                <a:spcPts val="1800"/>
              </a:lnSpc>
              <a:buNone/>
            </a:pPr>
            <a:r>
              <a:rPr lang="en-US" sz="1150" dirty="0">
                <a:solidFill>
                  <a:srgbClr val="0F172A"/>
                </a:solidFill>
                <a:latin typeface="Arial" pitchFamily="34" charset="0"/>
                <a:ea typeface="Arial" pitchFamily="34" charset="-122"/>
                <a:cs typeface="Arial" pitchFamily="34" charset="-120"/>
              </a:rPr>
              <a:t>• Focuses on urban local body (ULB) civic issues (Roads, Water, Waste, Lights, Safety).</a:t>
            </a: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Implements strict RBAC across 3 roles: Citizen, Field Officer, Administrator.</a:t>
            </a: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Production-ready full-stack architecture with automated test coverage.</a:t>
            </a:r>
            <a:endParaRPr lang="en-US" sz="1150" dirty="0"/>
          </a:p>
        </p:txBody>
      </p:sp>
      <p:sp>
        <p:nvSpPr>
          <p:cNvPr id="13" name="Shape 11"/>
          <p:cNvSpPr/>
          <p:nvPr/>
        </p:nvSpPr>
        <p:spPr>
          <a:xfrm>
            <a:off x="6309360" y="1554480"/>
            <a:ext cx="5120640" cy="4572000"/>
          </a:xfrm>
          <a:prstGeom prst="roundRect">
            <a:avLst/>
          </a:prstGeom>
          <a:solidFill>
            <a:srgbClr val="FFFFFF"/>
          </a:solidFill>
          <a:ln w="19050">
            <a:solidFill>
              <a:srgbClr val="E2E8F0"/>
            </a:solidFill>
            <a:prstDash val="solid"/>
          </a:ln>
        </p:spPr>
      </p:sp>
      <p:sp>
        <p:nvSpPr>
          <p:cNvPr id="14" name="Text 12"/>
          <p:cNvSpPr/>
          <p:nvPr/>
        </p:nvSpPr>
        <p:spPr>
          <a:xfrm>
            <a:off x="6583680" y="1737360"/>
            <a:ext cx="4572000" cy="365760"/>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Five Core Project Objectives</a:t>
            </a:r>
            <a:endParaRPr lang="en-US" sz="1600" dirty="0"/>
          </a:p>
        </p:txBody>
      </p:sp>
      <p:sp>
        <p:nvSpPr>
          <p:cNvPr id="15" name="Shape 13"/>
          <p:cNvSpPr/>
          <p:nvPr/>
        </p:nvSpPr>
        <p:spPr>
          <a:xfrm>
            <a:off x="6583680" y="2286000"/>
            <a:ext cx="320040" cy="320040"/>
          </a:xfrm>
          <a:prstGeom prst="ellipse">
            <a:avLst/>
          </a:prstGeom>
          <a:solidFill>
            <a:srgbClr val="2563EB"/>
          </a:solidFill>
          <a:ln/>
        </p:spPr>
      </p:sp>
      <p:sp>
        <p:nvSpPr>
          <p:cNvPr id="16" name="Text 14"/>
          <p:cNvSpPr/>
          <p:nvPr/>
        </p:nvSpPr>
        <p:spPr>
          <a:xfrm>
            <a:off x="6583680" y="228600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7" name="Text 15"/>
          <p:cNvSpPr/>
          <p:nvPr/>
        </p:nvSpPr>
        <p:spPr>
          <a:xfrm>
            <a:off x="7040880" y="2240280"/>
            <a:ext cx="4114800" cy="3200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Geospatial Ticket Creation: </a:t>
            </a:r>
            <a:endParaRPr lang="en-US" sz="1150" dirty="0"/>
          </a:p>
        </p:txBody>
      </p:sp>
      <p:sp>
        <p:nvSpPr>
          <p:cNvPr id="18" name="Text 16"/>
          <p:cNvSpPr/>
          <p:nvPr/>
        </p:nvSpPr>
        <p:spPr>
          <a:xfrm>
            <a:off x="7040880" y="2496312"/>
            <a:ext cx="4114800" cy="411480"/>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Pin exact coordinates via interactive Leaflet map &amp; photo upload.</a:t>
            </a:r>
            <a:endParaRPr lang="en-US" sz="1050" dirty="0"/>
          </a:p>
        </p:txBody>
      </p:sp>
      <p:sp>
        <p:nvSpPr>
          <p:cNvPr id="19" name="Shape 17"/>
          <p:cNvSpPr/>
          <p:nvPr/>
        </p:nvSpPr>
        <p:spPr>
          <a:xfrm>
            <a:off x="6583680" y="3017520"/>
            <a:ext cx="320040" cy="320040"/>
          </a:xfrm>
          <a:prstGeom prst="ellipse">
            <a:avLst/>
          </a:prstGeom>
          <a:solidFill>
            <a:srgbClr val="2563EB"/>
          </a:solidFill>
          <a:ln/>
        </p:spPr>
      </p:sp>
      <p:sp>
        <p:nvSpPr>
          <p:cNvPr id="20" name="Text 18"/>
          <p:cNvSpPr/>
          <p:nvPr/>
        </p:nvSpPr>
        <p:spPr>
          <a:xfrm>
            <a:off x="6583680" y="301752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1" name="Text 19"/>
          <p:cNvSpPr/>
          <p:nvPr/>
        </p:nvSpPr>
        <p:spPr>
          <a:xfrm>
            <a:off x="7040880" y="2971800"/>
            <a:ext cx="4114800" cy="3200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Intelligent Duplicate Suppression: </a:t>
            </a:r>
            <a:endParaRPr lang="en-US" sz="1150" dirty="0"/>
          </a:p>
        </p:txBody>
      </p:sp>
      <p:sp>
        <p:nvSpPr>
          <p:cNvPr id="22" name="Text 20"/>
          <p:cNvSpPr/>
          <p:nvPr/>
        </p:nvSpPr>
        <p:spPr>
          <a:xfrm>
            <a:off x="7040880" y="3227832"/>
            <a:ext cx="4114800" cy="411480"/>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Use Haversine distance (&lt;150m) &amp; Jaccard token similarity.</a:t>
            </a:r>
            <a:endParaRPr lang="en-US" sz="1050" dirty="0"/>
          </a:p>
        </p:txBody>
      </p:sp>
      <p:sp>
        <p:nvSpPr>
          <p:cNvPr id="23" name="Shape 21"/>
          <p:cNvSpPr/>
          <p:nvPr/>
        </p:nvSpPr>
        <p:spPr>
          <a:xfrm>
            <a:off x="6583680" y="3749040"/>
            <a:ext cx="320040" cy="320040"/>
          </a:xfrm>
          <a:prstGeom prst="ellipse">
            <a:avLst/>
          </a:prstGeom>
          <a:solidFill>
            <a:srgbClr val="2563EB"/>
          </a:solidFill>
          <a:ln/>
        </p:spPr>
      </p:sp>
      <p:sp>
        <p:nvSpPr>
          <p:cNvPr id="24" name="Text 22"/>
          <p:cNvSpPr/>
          <p:nvPr/>
        </p:nvSpPr>
        <p:spPr>
          <a:xfrm>
            <a:off x="6583680" y="374904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5" name="Text 23"/>
          <p:cNvSpPr/>
          <p:nvPr/>
        </p:nvSpPr>
        <p:spPr>
          <a:xfrm>
            <a:off x="7040880" y="3703320"/>
            <a:ext cx="4114800" cy="3200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Dynamic Smart Priority Engine: </a:t>
            </a:r>
            <a:endParaRPr lang="en-US" sz="1150" dirty="0"/>
          </a:p>
        </p:txBody>
      </p:sp>
      <p:sp>
        <p:nvSpPr>
          <p:cNvPr id="26" name="Text 24"/>
          <p:cNvSpPr/>
          <p:nvPr/>
        </p:nvSpPr>
        <p:spPr>
          <a:xfrm>
            <a:off x="7040880" y="3959352"/>
            <a:ext cx="4114800" cy="411480"/>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Algorithmic 0–100 score balancing severity, aging &amp; crowd votes.</a:t>
            </a:r>
            <a:endParaRPr lang="en-US" sz="1050" dirty="0"/>
          </a:p>
        </p:txBody>
      </p:sp>
      <p:sp>
        <p:nvSpPr>
          <p:cNvPr id="27" name="Shape 25"/>
          <p:cNvSpPr/>
          <p:nvPr/>
        </p:nvSpPr>
        <p:spPr>
          <a:xfrm>
            <a:off x="6583680" y="4480560"/>
            <a:ext cx="320040" cy="320040"/>
          </a:xfrm>
          <a:prstGeom prst="ellipse">
            <a:avLst/>
          </a:prstGeom>
          <a:solidFill>
            <a:srgbClr val="2563EB"/>
          </a:solidFill>
          <a:ln/>
        </p:spPr>
      </p:sp>
      <p:sp>
        <p:nvSpPr>
          <p:cNvPr id="28" name="Text 26"/>
          <p:cNvSpPr/>
          <p:nvPr/>
        </p:nvSpPr>
        <p:spPr>
          <a:xfrm>
            <a:off x="6583680" y="448056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7"/>
          <p:cNvSpPr/>
          <p:nvPr/>
        </p:nvSpPr>
        <p:spPr>
          <a:xfrm>
            <a:off x="7040880" y="4434840"/>
            <a:ext cx="4114800" cy="3200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Verifiable Proof Workflow: </a:t>
            </a:r>
            <a:endParaRPr lang="en-US" sz="1150" dirty="0"/>
          </a:p>
        </p:txBody>
      </p:sp>
      <p:sp>
        <p:nvSpPr>
          <p:cNvPr id="30" name="Text 28"/>
          <p:cNvSpPr/>
          <p:nvPr/>
        </p:nvSpPr>
        <p:spPr>
          <a:xfrm>
            <a:off x="7040880" y="4690872"/>
            <a:ext cx="4114800" cy="411480"/>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Mandatory photo proof &amp; citizen confirmation before ticket closure.</a:t>
            </a:r>
            <a:endParaRPr lang="en-US" sz="1050" dirty="0"/>
          </a:p>
        </p:txBody>
      </p:sp>
      <p:sp>
        <p:nvSpPr>
          <p:cNvPr id="31" name="Shape 29"/>
          <p:cNvSpPr/>
          <p:nvPr/>
        </p:nvSpPr>
        <p:spPr>
          <a:xfrm>
            <a:off x="6583680" y="5212080"/>
            <a:ext cx="320040" cy="320040"/>
          </a:xfrm>
          <a:prstGeom prst="ellipse">
            <a:avLst/>
          </a:prstGeom>
          <a:solidFill>
            <a:srgbClr val="2563EB"/>
          </a:solidFill>
          <a:ln/>
        </p:spPr>
      </p:sp>
      <p:sp>
        <p:nvSpPr>
          <p:cNvPr id="32" name="Text 30"/>
          <p:cNvSpPr/>
          <p:nvPr/>
        </p:nvSpPr>
        <p:spPr>
          <a:xfrm>
            <a:off x="6583680" y="5212080"/>
            <a:ext cx="32004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3" name="Text 31"/>
          <p:cNvSpPr/>
          <p:nvPr/>
        </p:nvSpPr>
        <p:spPr>
          <a:xfrm>
            <a:off x="7040880" y="5166360"/>
            <a:ext cx="4114800" cy="3200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Stateless Enterprise Security: </a:t>
            </a:r>
            <a:endParaRPr lang="en-US" sz="1150" dirty="0"/>
          </a:p>
        </p:txBody>
      </p:sp>
      <p:sp>
        <p:nvSpPr>
          <p:cNvPr id="34" name="Text 32"/>
          <p:cNvSpPr/>
          <p:nvPr/>
        </p:nvSpPr>
        <p:spPr>
          <a:xfrm>
            <a:off x="7040880" y="5422392"/>
            <a:ext cx="4114800" cy="411480"/>
          </a:xfrm>
          <a:prstGeom prst="rect">
            <a:avLst/>
          </a:prstGeom>
          <a:noFill/>
          <a:ln/>
        </p:spPr>
        <p:txBody>
          <a:bodyPr wrap="square" rtlCol="0" anchor="ctr"/>
          <a:lstStyle/>
          <a:p>
            <a:pPr indent="0" marL="0">
              <a:buNone/>
            </a:pPr>
            <a:r>
              <a:rPr lang="en-US" sz="1050" dirty="0">
                <a:solidFill>
                  <a:srgbClr val="475569"/>
                </a:solidFill>
                <a:latin typeface="Arial" pitchFamily="34" charset="0"/>
                <a:ea typeface="Arial" pitchFamily="34" charset="-122"/>
                <a:cs typeface="Arial" pitchFamily="34" charset="-120"/>
              </a:rPr>
              <a:t>JWT HMAC-SHA256, BCrypt hashing, and strict Spring Security RBAC.</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1: COMPARISON</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Comparative Analysis: Existing Systems vs. CivicFix</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4 / 16</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698480" cy="4480560"/>
        </p:xfrm>
        <a:graphic>
          <a:graphicData uri="http://schemas.openxmlformats.org/drawingml/2006/table">
            <a:tbl>
              <a:tblPr/>
              <a:tblGrid>
                <a:gridCol w="2286000"/>
                <a:gridCol w="4206240"/>
                <a:gridCol w="4206240"/>
              </a:tblGrid>
              <a:tr h="560070">
                <a:tc>
                  <a:txBody>
                    <a:bodyPr/>
                    <a:lstStyle/>
                    <a:p>
                      <a:pPr algn="ctr" indent="0" marL="0">
                        <a:buNone/>
                      </a:pPr>
                      <a:r>
                        <a:rPr lang="en-US" sz="1100" b="1" dirty="0">
                          <a:solidFill>
                            <a:srgbClr val="FFFFFF"/>
                          </a:solidFill>
                        </a:rPr>
                        <a:t>Evaluation Dimension</a:t>
                      </a:r>
                      <a:endParaRPr lang="en-US" sz="11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100" b="1" dirty="0">
                          <a:solidFill>
                            <a:srgbClr val="FFFFFF"/>
                          </a:solidFill>
                        </a:rPr>
                        <a:t>Traditional Civic Portals</a:t>
                      </a:r>
                      <a:endParaRPr lang="en-US" sz="11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75569"/>
                    </a:solidFill>
                  </a:tcPr>
                </a:tc>
                <a:tc>
                  <a:txBody>
                    <a:bodyPr/>
                    <a:lstStyle/>
                    <a:p>
                      <a:pPr algn="ctr" indent="0" marL="0">
                        <a:buNone/>
                      </a:pPr>
                      <a:r>
                        <a:rPr lang="en-US" sz="1100" b="1" dirty="0">
                          <a:solidFill>
                            <a:srgbClr val="FFFFFF"/>
                          </a:solidFill>
                        </a:rPr>
                        <a:t>CivicFix Proposed Platform</a:t>
                      </a:r>
                      <a:endParaRPr lang="en-US" sz="11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D4ED8"/>
                    </a:solidFill>
                  </a:tcPr>
                </a:tc>
              </a:tr>
              <a:tr h="560070">
                <a:tc>
                  <a:txBody>
                    <a:bodyPr/>
                    <a:lstStyle/>
                    <a:p>
                      <a:pPr indent="0" marL="0">
                        <a:buNone/>
                      </a:pPr>
                      <a:r>
                        <a:rPr lang="en-US" sz="1000" b="1" dirty="0">
                          <a:solidFill>
                            <a:srgbClr val="0F172A"/>
                          </a:solidFill>
                        </a:rPr>
                        <a:t>Incident Pinning</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E11D48"/>
                          </a:solidFill>
                        </a:rPr>
                        <a:t>Manual text address (vague landmarks, errors)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Interactive Leaflet GPS map with exact coordinates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60070">
                <a:tc>
                  <a:txBody>
                    <a:bodyPr/>
                    <a:lstStyle/>
                    <a:p>
                      <a:pPr indent="0" marL="0">
                        <a:buNone/>
                      </a:pPr>
                      <a:r>
                        <a:rPr lang="en-US" sz="1000" b="1" dirty="0">
                          <a:solidFill>
                            <a:srgbClr val="0F172A"/>
                          </a:solidFill>
                        </a:rPr>
                        <a:t>Duplicate Handling</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E11D48"/>
                          </a:solidFill>
                        </a:rPr>
                        <a:t>None; duplicates clutter database &amp; officer queues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59669"/>
                          </a:solidFill>
                        </a:rPr>
                        <a:t>Haversine formula (&lt;150m) + Jaccard token similarity</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r h="560070">
                <a:tc>
                  <a:txBody>
                    <a:bodyPr/>
                    <a:lstStyle/>
                    <a:p>
                      <a:pPr indent="0" marL="0">
                        <a:buNone/>
                      </a:pPr>
                      <a:r>
                        <a:rPr lang="en-US" sz="1000" b="1" dirty="0">
                          <a:solidFill>
                            <a:srgbClr val="0F172A"/>
                          </a:solidFill>
                        </a:rPr>
                        <a:t>Queue Priority</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E11D48"/>
                          </a:solidFill>
                        </a:rPr>
                        <a:t>First-In-First-Out (FIFO); hazards wait in line</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Automated 0–100 score (Severity, Votes, Aging, Keywords)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60070">
                <a:tc>
                  <a:txBody>
                    <a:bodyPr/>
                    <a:lstStyle/>
                    <a:p>
                      <a:pPr indent="0" marL="0">
                        <a:buNone/>
                      </a:pPr>
                      <a:r>
                        <a:rPr lang="en-US" sz="1000" b="1" dirty="0">
                          <a:solidFill>
                            <a:srgbClr val="0F172A"/>
                          </a:solidFill>
                        </a:rPr>
                        <a:t>Resolution Integrity</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E11D48"/>
                          </a:solidFill>
                        </a:rPr>
                        <a:t>Verbal/paper sign-off; widespread "ghost" closures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59669"/>
                          </a:solidFill>
                        </a:rPr>
                        <a:t>Mandatory resolution photo proof + officer remarks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r h="560070">
                <a:tc>
                  <a:txBody>
                    <a:bodyPr/>
                    <a:lstStyle/>
                    <a:p>
                      <a:pPr indent="0" marL="0">
                        <a:buNone/>
                      </a:pPr>
                      <a:r>
                        <a:rPr lang="en-US" sz="1000" b="1" dirty="0">
                          <a:solidFill>
                            <a:srgbClr val="0F172A"/>
                          </a:solidFill>
                        </a:rPr>
                        <a:t>Citizen Feedback</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E11D48"/>
                          </a:solidFill>
                        </a:rPr>
                        <a:t>None; ticket is closed without citizen input</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Citizen confirms satisfaction &amp; awards reputation points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60070">
                <a:tc>
                  <a:txBody>
                    <a:bodyPr/>
                    <a:lstStyle/>
                    <a:p>
                      <a:pPr indent="0" marL="0">
                        <a:buNone/>
                      </a:pPr>
                      <a:r>
                        <a:rPr lang="en-US" sz="1000" b="1" dirty="0">
                          <a:solidFill>
                            <a:srgbClr val="0F172A"/>
                          </a:solidFill>
                        </a:rPr>
                        <a:t>Audit &amp; Security</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E11D48"/>
                          </a:solidFill>
                        </a:rPr>
                        <a:t>Shared logins, mutable records, session state</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b="1" dirty="0">
                          <a:solidFill>
                            <a:srgbClr val="059669"/>
                          </a:solidFill>
                        </a:rPr>
                        <a:t>Stateless JWT HMAC-SHA256, BCrypt, immutable audit trail</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r>
              <a:tr h="560070">
                <a:tc>
                  <a:txBody>
                    <a:bodyPr/>
                    <a:lstStyle/>
                    <a:p>
                      <a:pPr indent="0" marL="0">
                        <a:buNone/>
                      </a:pPr>
                      <a:r>
                        <a:rPr lang="en-US" sz="1000" b="1" dirty="0">
                          <a:solidFill>
                            <a:srgbClr val="0F172A"/>
                          </a:solidFill>
                        </a:rPr>
                        <a:t>Community Voice</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E11D48"/>
                          </a:solidFill>
                        </a:rPr>
                        <a:t>Individual isolated complaints</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59669"/>
                          </a:solidFill>
                        </a:rPr>
                        <a:t>Crowdsourced upvoting to organically escalate priority</a:t>
                      </a:r>
                      <a:endParaRPr lang="en-US" sz="1000" dirty="0"/>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2: USER ROLES</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Three-Tier Role-Based Separation of Concerns</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5 / 16</a:t>
            </a:r>
            <a:endParaRPr lang="en-US" sz="900" dirty="0"/>
          </a:p>
        </p:txBody>
      </p:sp>
      <p:sp>
        <p:nvSpPr>
          <p:cNvPr id="8" name="Shape 6"/>
          <p:cNvSpPr/>
          <p:nvPr/>
        </p:nvSpPr>
        <p:spPr>
          <a:xfrm>
            <a:off x="731520" y="1554480"/>
            <a:ext cx="3383280" cy="4389120"/>
          </a:xfrm>
          <a:prstGeom prst="roundRect">
            <a:avLst/>
          </a:prstGeom>
          <a:solidFill>
            <a:srgbClr val="FFFFFF"/>
          </a:solidFill>
          <a:ln w="19050">
            <a:solidFill>
              <a:srgbClr val="E2E8F0"/>
            </a:solidFill>
            <a:prstDash val="solid"/>
          </a:ln>
        </p:spPr>
      </p:sp>
      <p:sp>
        <p:nvSpPr>
          <p:cNvPr id="9" name="Shape 7"/>
          <p:cNvSpPr/>
          <p:nvPr/>
        </p:nvSpPr>
        <p:spPr>
          <a:xfrm>
            <a:off x="731520" y="1554480"/>
            <a:ext cx="3383280" cy="731520"/>
          </a:xfrm>
          <a:prstGeom prst="roundRect">
            <a:avLst/>
          </a:prstGeom>
          <a:solidFill>
            <a:srgbClr val="2563EB"/>
          </a:solidFill>
          <a:ln/>
        </p:spPr>
      </p:sp>
      <p:sp>
        <p:nvSpPr>
          <p:cNvPr id="10" name="Text 8"/>
          <p:cNvSpPr/>
          <p:nvPr/>
        </p:nvSpPr>
        <p:spPr>
          <a:xfrm>
            <a:off x="914400" y="1627632"/>
            <a:ext cx="3017520" cy="274320"/>
          </a:xfrm>
          <a:prstGeom prst="rect">
            <a:avLst/>
          </a:prstGeom>
          <a:noFill/>
          <a:ln/>
        </p:spPr>
        <p:txBody>
          <a:bodyPr wrap="square" rtlCol="0" anchor="ctr"/>
          <a:lstStyle/>
          <a:p>
            <a:pPr algn="ctr" indent="0" marL="0">
              <a:buNone/>
            </a:pPr>
            <a:r>
              <a:rPr lang="en-US" sz="1000" b="1" dirty="0">
                <a:solidFill>
                  <a:srgbClr val="E2E8F0"/>
                </a:solidFill>
                <a:latin typeface="Arial" pitchFamily="34" charset="0"/>
                <a:ea typeface="Arial" pitchFamily="34" charset="-122"/>
                <a:cs typeface="Arial" pitchFamily="34" charset="-120"/>
              </a:rPr>
              <a:t>ROLE_CITIZEN</a:t>
            </a:r>
            <a:endParaRPr lang="en-US" sz="1000" dirty="0"/>
          </a:p>
        </p:txBody>
      </p:sp>
      <p:sp>
        <p:nvSpPr>
          <p:cNvPr id="11" name="Text 9"/>
          <p:cNvSpPr/>
          <p:nvPr/>
        </p:nvSpPr>
        <p:spPr>
          <a:xfrm>
            <a:off x="914400" y="1874520"/>
            <a:ext cx="301752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Citizens (Public)</a:t>
            </a:r>
            <a:endParaRPr lang="en-US" sz="1400" dirty="0"/>
          </a:p>
        </p:txBody>
      </p:sp>
      <p:sp>
        <p:nvSpPr>
          <p:cNvPr id="12" name="Text 10"/>
          <p:cNvSpPr/>
          <p:nvPr/>
        </p:nvSpPr>
        <p:spPr>
          <a:xfrm>
            <a:off x="1005840" y="2468880"/>
            <a:ext cx="2834640" cy="3291840"/>
          </a:xfrm>
          <a:prstGeom prst="rect">
            <a:avLst/>
          </a:prstGeom>
          <a:noFill/>
          <a:ln/>
        </p:spPr>
        <p:txBody>
          <a:bodyPr wrap="square" rtlCol="0" anchor="ctr"/>
          <a:lstStyle/>
          <a:p>
            <a:pPr indent="0" marL="0">
              <a:lnSpc>
                <a:spcPts val="1800"/>
              </a:lnSpc>
              <a:buNone/>
            </a:pPr>
            <a:r>
              <a:rPr lang="en-US" sz="1150" dirty="0">
                <a:solidFill>
                  <a:srgbClr val="0F172A"/>
                </a:solidFill>
                <a:latin typeface="Arial" pitchFamily="34" charset="0"/>
                <a:ea typeface="Arial" pitchFamily="34" charset="-122"/>
                <a:cs typeface="Arial" pitchFamily="34" charset="-120"/>
              </a:rPr>
              <a:t>✓  Secure registration with BCrypt hashing</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Report issues with GPS &amp; photo evidence</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Real-time duplicate detection warning</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Crowdsourced upvoting on public issues</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Track status &amp; confirm resolution satisfaction</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Earn civic reputation points ledger</a:t>
            </a:r>
            <a:endParaRPr lang="en-US" sz="1150" dirty="0"/>
          </a:p>
        </p:txBody>
      </p:sp>
      <p:sp>
        <p:nvSpPr>
          <p:cNvPr id="13" name="Shape 11"/>
          <p:cNvSpPr/>
          <p:nvPr/>
        </p:nvSpPr>
        <p:spPr>
          <a:xfrm>
            <a:off x="4389120" y="1554480"/>
            <a:ext cx="3383280" cy="4389120"/>
          </a:xfrm>
          <a:prstGeom prst="roundRect">
            <a:avLst/>
          </a:prstGeom>
          <a:solidFill>
            <a:srgbClr val="FFFFFF"/>
          </a:solidFill>
          <a:ln w="19050">
            <a:solidFill>
              <a:srgbClr val="E2E8F0"/>
            </a:solidFill>
            <a:prstDash val="solid"/>
          </a:ln>
        </p:spPr>
      </p:sp>
      <p:sp>
        <p:nvSpPr>
          <p:cNvPr id="14" name="Shape 12"/>
          <p:cNvSpPr/>
          <p:nvPr/>
        </p:nvSpPr>
        <p:spPr>
          <a:xfrm>
            <a:off x="4389120" y="1554480"/>
            <a:ext cx="3383280" cy="731520"/>
          </a:xfrm>
          <a:prstGeom prst="roundRect">
            <a:avLst/>
          </a:prstGeom>
          <a:solidFill>
            <a:srgbClr val="0D9488"/>
          </a:solidFill>
          <a:ln/>
        </p:spPr>
      </p:sp>
      <p:sp>
        <p:nvSpPr>
          <p:cNvPr id="15" name="Text 13"/>
          <p:cNvSpPr/>
          <p:nvPr/>
        </p:nvSpPr>
        <p:spPr>
          <a:xfrm>
            <a:off x="4572000" y="1627632"/>
            <a:ext cx="3017520" cy="274320"/>
          </a:xfrm>
          <a:prstGeom prst="rect">
            <a:avLst/>
          </a:prstGeom>
          <a:noFill/>
          <a:ln/>
        </p:spPr>
        <p:txBody>
          <a:bodyPr wrap="square" rtlCol="0" anchor="ctr"/>
          <a:lstStyle/>
          <a:p>
            <a:pPr algn="ctr" indent="0" marL="0">
              <a:buNone/>
            </a:pPr>
            <a:r>
              <a:rPr lang="en-US" sz="1000" b="1" dirty="0">
                <a:solidFill>
                  <a:srgbClr val="E2E8F0"/>
                </a:solidFill>
                <a:latin typeface="Arial" pitchFamily="34" charset="0"/>
                <a:ea typeface="Arial" pitchFamily="34" charset="-122"/>
                <a:cs typeface="Arial" pitchFamily="34" charset="-120"/>
              </a:rPr>
              <a:t>ROLE_EMPLOYEE</a:t>
            </a:r>
            <a:endParaRPr lang="en-US" sz="1000" dirty="0"/>
          </a:p>
        </p:txBody>
      </p:sp>
      <p:sp>
        <p:nvSpPr>
          <p:cNvPr id="16" name="Text 14"/>
          <p:cNvSpPr/>
          <p:nvPr/>
        </p:nvSpPr>
        <p:spPr>
          <a:xfrm>
            <a:off x="4572000" y="1874520"/>
            <a:ext cx="301752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Field Officers (Staff)</a:t>
            </a:r>
            <a:endParaRPr lang="en-US" sz="1400" dirty="0"/>
          </a:p>
        </p:txBody>
      </p:sp>
      <p:sp>
        <p:nvSpPr>
          <p:cNvPr id="17" name="Text 15"/>
          <p:cNvSpPr/>
          <p:nvPr/>
        </p:nvSpPr>
        <p:spPr>
          <a:xfrm>
            <a:off x="4663440" y="2468880"/>
            <a:ext cx="2834640" cy="3291840"/>
          </a:xfrm>
          <a:prstGeom prst="rect">
            <a:avLst/>
          </a:prstGeom>
          <a:noFill/>
          <a:ln/>
        </p:spPr>
        <p:txBody>
          <a:bodyPr wrap="square" rtlCol="0" anchor="ctr"/>
          <a:lstStyle/>
          <a:p>
            <a:pPr indent="0" marL="0">
              <a:lnSpc>
                <a:spcPts val="1800"/>
              </a:lnSpc>
              <a:buNone/>
            </a:pPr>
            <a:r>
              <a:rPr lang="en-US" sz="1150" dirty="0">
                <a:solidFill>
                  <a:srgbClr val="0F172A"/>
                </a:solidFill>
                <a:latin typeface="Arial" pitchFamily="34" charset="0"/>
                <a:ea typeface="Arial" pitchFamily="34" charset="-122"/>
                <a:cs typeface="Arial" pitchFamily="34" charset="-120"/>
              </a:rPr>
              <a:t>✓  Personal departmental work queue</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Acknowledge tickets to "In Progress"</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Inspect GPS map &amp; citizen photos</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Mandatory resolution photo upload</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Submit official completion remarks</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SLA deadline compliance tracking</a:t>
            </a:r>
            <a:endParaRPr lang="en-US" sz="1150" dirty="0"/>
          </a:p>
        </p:txBody>
      </p:sp>
      <p:sp>
        <p:nvSpPr>
          <p:cNvPr id="18" name="Shape 16"/>
          <p:cNvSpPr/>
          <p:nvPr/>
        </p:nvSpPr>
        <p:spPr>
          <a:xfrm>
            <a:off x="8046720" y="1554480"/>
            <a:ext cx="3383280" cy="4389120"/>
          </a:xfrm>
          <a:prstGeom prst="roundRect">
            <a:avLst/>
          </a:prstGeom>
          <a:solidFill>
            <a:srgbClr val="FFFFFF"/>
          </a:solidFill>
          <a:ln w="19050">
            <a:solidFill>
              <a:srgbClr val="E2E8F0"/>
            </a:solidFill>
            <a:prstDash val="solid"/>
          </a:ln>
        </p:spPr>
      </p:sp>
      <p:sp>
        <p:nvSpPr>
          <p:cNvPr id="19" name="Shape 17"/>
          <p:cNvSpPr/>
          <p:nvPr/>
        </p:nvSpPr>
        <p:spPr>
          <a:xfrm>
            <a:off x="8046720" y="1554480"/>
            <a:ext cx="3383280" cy="731520"/>
          </a:xfrm>
          <a:prstGeom prst="roundRect">
            <a:avLst/>
          </a:prstGeom>
          <a:solidFill>
            <a:srgbClr val="7C3AED"/>
          </a:solidFill>
          <a:ln/>
        </p:spPr>
      </p:sp>
      <p:sp>
        <p:nvSpPr>
          <p:cNvPr id="20" name="Text 18"/>
          <p:cNvSpPr/>
          <p:nvPr/>
        </p:nvSpPr>
        <p:spPr>
          <a:xfrm>
            <a:off x="8229600" y="1627632"/>
            <a:ext cx="3017520" cy="274320"/>
          </a:xfrm>
          <a:prstGeom prst="rect">
            <a:avLst/>
          </a:prstGeom>
          <a:noFill/>
          <a:ln/>
        </p:spPr>
        <p:txBody>
          <a:bodyPr wrap="square" rtlCol="0" anchor="ctr"/>
          <a:lstStyle/>
          <a:p>
            <a:pPr algn="ctr" indent="0" marL="0">
              <a:buNone/>
            </a:pPr>
            <a:r>
              <a:rPr lang="en-US" sz="1000" b="1" dirty="0">
                <a:solidFill>
                  <a:srgbClr val="E2E8F0"/>
                </a:solidFill>
                <a:latin typeface="Arial" pitchFamily="34" charset="0"/>
                <a:ea typeface="Arial" pitchFamily="34" charset="-122"/>
                <a:cs typeface="Arial" pitchFamily="34" charset="-120"/>
              </a:rPr>
              <a:t>ROLE_ADMIN</a:t>
            </a:r>
            <a:endParaRPr lang="en-US" sz="1000" dirty="0"/>
          </a:p>
        </p:txBody>
      </p:sp>
      <p:sp>
        <p:nvSpPr>
          <p:cNvPr id="21" name="Text 19"/>
          <p:cNvSpPr/>
          <p:nvPr/>
        </p:nvSpPr>
        <p:spPr>
          <a:xfrm>
            <a:off x="8229600" y="1874520"/>
            <a:ext cx="301752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Administrators (Supervisors)</a:t>
            </a:r>
            <a:endParaRPr lang="en-US" sz="1400" dirty="0"/>
          </a:p>
        </p:txBody>
      </p:sp>
      <p:sp>
        <p:nvSpPr>
          <p:cNvPr id="22" name="Text 20"/>
          <p:cNvSpPr/>
          <p:nvPr/>
        </p:nvSpPr>
        <p:spPr>
          <a:xfrm>
            <a:off x="8321040" y="2468880"/>
            <a:ext cx="2834640" cy="3291840"/>
          </a:xfrm>
          <a:prstGeom prst="rect">
            <a:avLst/>
          </a:prstGeom>
          <a:noFill/>
          <a:ln/>
        </p:spPr>
        <p:txBody>
          <a:bodyPr wrap="square" rtlCol="0" anchor="ctr"/>
          <a:lstStyle/>
          <a:p>
            <a:pPr indent="0" marL="0">
              <a:lnSpc>
                <a:spcPts val="1800"/>
              </a:lnSpc>
              <a:buNone/>
            </a:pPr>
            <a:r>
              <a:rPr lang="en-US" sz="1150" dirty="0">
                <a:solidFill>
                  <a:srgbClr val="0F172A"/>
                </a:solidFill>
                <a:latin typeface="Arial" pitchFamily="34" charset="0"/>
                <a:ea typeface="Arial" pitchFamily="34" charset="-122"/>
                <a:cs typeface="Arial" pitchFamily="34" charset="-120"/>
              </a:rPr>
              <a:t>✓  Executive municipal control center</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Verify incoming reports or reject spam</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Assign tickets to Departments &amp; Officers</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Adjust urgency scores &amp; severity ratings</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Real-time category &amp; resolution analytics</a:t>
            </a:r>
            <a:endParaRPr lang="en-US" sz="1150" dirty="0"/>
          </a:p>
          <a:p>
            <a:pPr indent="0" marL="0">
              <a:lnSpc>
                <a:spcPts val="1800"/>
              </a:lnSpc>
              <a:buNone/>
            </a:pPr>
            <a:endParaRPr lang="en-US" sz="1150" dirty="0"/>
          </a:p>
          <a:p>
            <a:pPr indent="0" marL="0">
              <a:lnSpc>
                <a:spcPts val="1800"/>
              </a:lnSpc>
              <a:buNone/>
            </a:pPr>
            <a:r>
              <a:rPr lang="en-US" sz="1150" dirty="0">
                <a:solidFill>
                  <a:srgbClr val="0F172A"/>
                </a:solidFill>
                <a:latin typeface="Arial" pitchFamily="34" charset="0"/>
                <a:ea typeface="Arial" pitchFamily="34" charset="-122"/>
                <a:cs typeface="Arial" pitchFamily="34" charset="-120"/>
              </a:rPr>
              <a:t>✓  Full immutable audit log oversight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3: ARCHITECTURE</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End-to-End Enterprise System Architecture</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6 / 16</a:t>
            </a:r>
            <a:endParaRPr lang="en-US" sz="900" dirty="0"/>
          </a:p>
        </p:txBody>
      </p:sp>
      <p:sp>
        <p:nvSpPr>
          <p:cNvPr id="8" name="Shape 6"/>
          <p:cNvSpPr/>
          <p:nvPr/>
        </p:nvSpPr>
        <p:spPr>
          <a:xfrm>
            <a:off x="731520" y="1554480"/>
            <a:ext cx="10698480" cy="1051560"/>
          </a:xfrm>
          <a:prstGeom prst="roundRect">
            <a:avLst/>
          </a:prstGeom>
          <a:solidFill>
            <a:srgbClr val="FFFFFF"/>
          </a:solidFill>
          <a:ln w="19050">
            <a:solidFill>
              <a:srgbClr val="E2E8F0"/>
            </a:solidFill>
            <a:prstDash val="solid"/>
          </a:ln>
        </p:spPr>
      </p:sp>
      <p:sp>
        <p:nvSpPr>
          <p:cNvPr id="9" name="Shape 7"/>
          <p:cNvSpPr/>
          <p:nvPr/>
        </p:nvSpPr>
        <p:spPr>
          <a:xfrm>
            <a:off x="731520" y="1554480"/>
            <a:ext cx="2560320" cy="1051560"/>
          </a:xfrm>
          <a:prstGeom prst="roundRect">
            <a:avLst/>
          </a:prstGeom>
          <a:solidFill>
            <a:srgbClr val="2563EB"/>
          </a:solidFill>
          <a:ln/>
        </p:spPr>
      </p:sp>
      <p:sp>
        <p:nvSpPr>
          <p:cNvPr id="10" name="Text 8"/>
          <p:cNvSpPr/>
          <p:nvPr/>
        </p:nvSpPr>
        <p:spPr>
          <a:xfrm>
            <a:off x="822960" y="1691640"/>
            <a:ext cx="23774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Layer 1: Client Tier</a:t>
            </a:r>
            <a:endParaRPr lang="en-US" sz="1200" dirty="0"/>
          </a:p>
        </p:txBody>
      </p:sp>
      <p:sp>
        <p:nvSpPr>
          <p:cNvPr id="11" name="Text 9"/>
          <p:cNvSpPr/>
          <p:nvPr/>
        </p:nvSpPr>
        <p:spPr>
          <a:xfrm>
            <a:off x="822960" y="2011680"/>
            <a:ext cx="2377440" cy="502920"/>
          </a:xfrm>
          <a:prstGeom prst="rect">
            <a:avLst/>
          </a:prstGeom>
          <a:noFill/>
          <a:ln/>
        </p:spPr>
        <p:txBody>
          <a:bodyPr wrap="square" rtlCol="0" anchor="ctr"/>
          <a:lstStyle/>
          <a:p>
            <a:pPr indent="0" marL="0">
              <a:lnSpc>
                <a:spcPts val="1200"/>
              </a:lnSpc>
              <a:buNone/>
            </a:pPr>
            <a:r>
              <a:rPr lang="en-US" sz="950" dirty="0">
                <a:solidFill>
                  <a:srgbClr val="E2E8F0"/>
                </a:solidFill>
                <a:latin typeface="Arial" pitchFamily="34" charset="0"/>
                <a:ea typeface="Arial" pitchFamily="34" charset="-122"/>
                <a:cs typeface="Arial" pitchFamily="34" charset="-120"/>
              </a:rPr>
              <a:t>React 18.3 | Vite 5.4 | React Router 7 | Leaflet 1.9 | Axios</a:t>
            </a:r>
            <a:endParaRPr lang="en-US" sz="950" dirty="0"/>
          </a:p>
        </p:txBody>
      </p:sp>
      <p:sp>
        <p:nvSpPr>
          <p:cNvPr id="12" name="Text 10"/>
          <p:cNvSpPr/>
          <p:nvPr/>
        </p:nvSpPr>
        <p:spPr>
          <a:xfrm>
            <a:off x="3474720" y="1691640"/>
            <a:ext cx="7680960" cy="777240"/>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Responsive Single Page Application (SPA), interactive OpenStreetMap geospatial viewer, debounced duplicate checks, and automated JWT Bearer token injection via Axios interceptors.</a:t>
            </a:r>
            <a:endParaRPr lang="en-US" sz="1150" dirty="0"/>
          </a:p>
        </p:txBody>
      </p:sp>
      <p:sp>
        <p:nvSpPr>
          <p:cNvPr id="13" name="Shape 11"/>
          <p:cNvSpPr/>
          <p:nvPr/>
        </p:nvSpPr>
        <p:spPr>
          <a:xfrm>
            <a:off x="731520" y="2697480"/>
            <a:ext cx="10698480" cy="1051560"/>
          </a:xfrm>
          <a:prstGeom prst="roundRect">
            <a:avLst/>
          </a:prstGeom>
          <a:solidFill>
            <a:srgbClr val="FFFFFF"/>
          </a:solidFill>
          <a:ln w="19050">
            <a:solidFill>
              <a:srgbClr val="E2E8F0"/>
            </a:solidFill>
            <a:prstDash val="solid"/>
          </a:ln>
        </p:spPr>
      </p:sp>
      <p:sp>
        <p:nvSpPr>
          <p:cNvPr id="14" name="Shape 12"/>
          <p:cNvSpPr/>
          <p:nvPr/>
        </p:nvSpPr>
        <p:spPr>
          <a:xfrm>
            <a:off x="731520" y="2697480"/>
            <a:ext cx="2560320" cy="1051560"/>
          </a:xfrm>
          <a:prstGeom prst="roundRect">
            <a:avLst/>
          </a:prstGeom>
          <a:solidFill>
            <a:srgbClr val="0D9488"/>
          </a:solidFill>
          <a:ln/>
        </p:spPr>
      </p:sp>
      <p:sp>
        <p:nvSpPr>
          <p:cNvPr id="15" name="Text 13"/>
          <p:cNvSpPr/>
          <p:nvPr/>
        </p:nvSpPr>
        <p:spPr>
          <a:xfrm>
            <a:off x="822960" y="2834640"/>
            <a:ext cx="23774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Layer 2: Security &amp; Gateway Tier</a:t>
            </a:r>
            <a:endParaRPr lang="en-US" sz="1200" dirty="0"/>
          </a:p>
        </p:txBody>
      </p:sp>
      <p:sp>
        <p:nvSpPr>
          <p:cNvPr id="16" name="Text 14"/>
          <p:cNvSpPr/>
          <p:nvPr/>
        </p:nvSpPr>
        <p:spPr>
          <a:xfrm>
            <a:off x="822960" y="3154680"/>
            <a:ext cx="2377440" cy="502920"/>
          </a:xfrm>
          <a:prstGeom prst="rect">
            <a:avLst/>
          </a:prstGeom>
          <a:noFill/>
          <a:ln/>
        </p:spPr>
        <p:txBody>
          <a:bodyPr wrap="square" rtlCol="0" anchor="ctr"/>
          <a:lstStyle/>
          <a:p>
            <a:pPr indent="0" marL="0">
              <a:lnSpc>
                <a:spcPts val="1200"/>
              </a:lnSpc>
              <a:buNone/>
            </a:pPr>
            <a:r>
              <a:rPr lang="en-US" sz="950" dirty="0">
                <a:solidFill>
                  <a:srgbClr val="E2E8F0"/>
                </a:solidFill>
                <a:latin typeface="Arial" pitchFamily="34" charset="0"/>
                <a:ea typeface="Arial" pitchFamily="34" charset="-122"/>
                <a:cs typeface="Arial" pitchFamily="34" charset="-120"/>
              </a:rPr>
              <a:t>Spring Security 6 | Stateless JWT (HS256) | BCrypt | CORS Filter</a:t>
            </a:r>
            <a:endParaRPr lang="en-US" sz="950" dirty="0"/>
          </a:p>
        </p:txBody>
      </p:sp>
      <p:sp>
        <p:nvSpPr>
          <p:cNvPr id="17" name="Text 15"/>
          <p:cNvSpPr/>
          <p:nvPr/>
        </p:nvSpPr>
        <p:spPr>
          <a:xfrm>
            <a:off x="3474720" y="2834640"/>
            <a:ext cx="7680960" cy="777240"/>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Extracts Bearer token, validates HMAC-SHA256 signature, validates 24h expiration, populates SecurityContextHolder with authorities, and enforces method-level RBAC.</a:t>
            </a:r>
            <a:endParaRPr lang="en-US" sz="1150" dirty="0"/>
          </a:p>
        </p:txBody>
      </p:sp>
      <p:sp>
        <p:nvSpPr>
          <p:cNvPr id="18" name="Shape 16"/>
          <p:cNvSpPr/>
          <p:nvPr/>
        </p:nvSpPr>
        <p:spPr>
          <a:xfrm>
            <a:off x="731520" y="3840480"/>
            <a:ext cx="10698480" cy="1051560"/>
          </a:xfrm>
          <a:prstGeom prst="roundRect">
            <a:avLst/>
          </a:prstGeom>
          <a:solidFill>
            <a:srgbClr val="FFFFFF"/>
          </a:solidFill>
          <a:ln w="19050">
            <a:solidFill>
              <a:srgbClr val="E2E8F0"/>
            </a:solidFill>
            <a:prstDash val="solid"/>
          </a:ln>
        </p:spPr>
      </p:sp>
      <p:sp>
        <p:nvSpPr>
          <p:cNvPr id="19" name="Shape 17"/>
          <p:cNvSpPr/>
          <p:nvPr/>
        </p:nvSpPr>
        <p:spPr>
          <a:xfrm>
            <a:off x="731520" y="3840480"/>
            <a:ext cx="2560320" cy="1051560"/>
          </a:xfrm>
          <a:prstGeom prst="roundRect">
            <a:avLst/>
          </a:prstGeom>
          <a:solidFill>
            <a:srgbClr val="7C3AED"/>
          </a:solidFill>
          <a:ln/>
        </p:spPr>
      </p:sp>
      <p:sp>
        <p:nvSpPr>
          <p:cNvPr id="20" name="Text 18"/>
          <p:cNvSpPr/>
          <p:nvPr/>
        </p:nvSpPr>
        <p:spPr>
          <a:xfrm>
            <a:off x="822960" y="3977640"/>
            <a:ext cx="23774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Layer 3: Business &amp; Service Tier</a:t>
            </a:r>
            <a:endParaRPr lang="en-US" sz="1200" dirty="0"/>
          </a:p>
        </p:txBody>
      </p:sp>
      <p:sp>
        <p:nvSpPr>
          <p:cNvPr id="21" name="Text 19"/>
          <p:cNvSpPr/>
          <p:nvPr/>
        </p:nvSpPr>
        <p:spPr>
          <a:xfrm>
            <a:off x="822960" y="4297680"/>
            <a:ext cx="2377440" cy="502920"/>
          </a:xfrm>
          <a:prstGeom prst="rect">
            <a:avLst/>
          </a:prstGeom>
          <a:noFill/>
          <a:ln/>
        </p:spPr>
        <p:txBody>
          <a:bodyPr wrap="square" rtlCol="0" anchor="ctr"/>
          <a:lstStyle/>
          <a:p>
            <a:pPr indent="0" marL="0">
              <a:lnSpc>
                <a:spcPts val="1200"/>
              </a:lnSpc>
              <a:buNone/>
            </a:pPr>
            <a:r>
              <a:rPr lang="en-US" sz="950" dirty="0">
                <a:solidFill>
                  <a:srgbClr val="E2E8F0"/>
                </a:solidFill>
                <a:latin typeface="Arial" pitchFamily="34" charset="0"/>
                <a:ea typeface="Arial" pitchFamily="34" charset="-122"/>
                <a:cs typeface="Arial" pitchFamily="34" charset="-120"/>
              </a:rPr>
              <a:t>Spring Boot 3.4.3 | Spring MVC REST Controllers | @Transactional Services</a:t>
            </a:r>
            <a:endParaRPr lang="en-US" sz="950" dirty="0"/>
          </a:p>
        </p:txBody>
      </p:sp>
      <p:sp>
        <p:nvSpPr>
          <p:cNvPr id="22" name="Text 20"/>
          <p:cNvSpPr/>
          <p:nvPr/>
        </p:nvSpPr>
        <p:spPr>
          <a:xfrm>
            <a:off x="3474720" y="3977640"/>
            <a:ext cx="7680960" cy="777240"/>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REST Controllers exposing JSON endpoints. Core business services encapsulating Haversine duplicate detection, dynamic priority calculation, and reputation auditing.</a:t>
            </a:r>
            <a:endParaRPr lang="en-US" sz="1150" dirty="0"/>
          </a:p>
        </p:txBody>
      </p:sp>
      <p:sp>
        <p:nvSpPr>
          <p:cNvPr id="23" name="Shape 21"/>
          <p:cNvSpPr/>
          <p:nvPr/>
        </p:nvSpPr>
        <p:spPr>
          <a:xfrm>
            <a:off x="731520" y="4983480"/>
            <a:ext cx="10698480" cy="1051560"/>
          </a:xfrm>
          <a:prstGeom prst="roundRect">
            <a:avLst/>
          </a:prstGeom>
          <a:solidFill>
            <a:srgbClr val="FFFFFF"/>
          </a:solidFill>
          <a:ln w="19050">
            <a:solidFill>
              <a:srgbClr val="E2E8F0"/>
            </a:solidFill>
            <a:prstDash val="solid"/>
          </a:ln>
        </p:spPr>
      </p:sp>
      <p:sp>
        <p:nvSpPr>
          <p:cNvPr id="24" name="Shape 22"/>
          <p:cNvSpPr/>
          <p:nvPr/>
        </p:nvSpPr>
        <p:spPr>
          <a:xfrm>
            <a:off x="731520" y="4983480"/>
            <a:ext cx="2560320" cy="1051560"/>
          </a:xfrm>
          <a:prstGeom prst="roundRect">
            <a:avLst/>
          </a:prstGeom>
          <a:solidFill>
            <a:srgbClr val="1E293B"/>
          </a:solidFill>
          <a:ln/>
        </p:spPr>
      </p:sp>
      <p:sp>
        <p:nvSpPr>
          <p:cNvPr id="25" name="Text 23"/>
          <p:cNvSpPr/>
          <p:nvPr/>
        </p:nvSpPr>
        <p:spPr>
          <a:xfrm>
            <a:off x="822960" y="5120640"/>
            <a:ext cx="237744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Layer 4: Data Persistence Tier</a:t>
            </a:r>
            <a:endParaRPr lang="en-US" sz="1200" dirty="0"/>
          </a:p>
        </p:txBody>
      </p:sp>
      <p:sp>
        <p:nvSpPr>
          <p:cNvPr id="26" name="Text 24"/>
          <p:cNvSpPr/>
          <p:nvPr/>
        </p:nvSpPr>
        <p:spPr>
          <a:xfrm>
            <a:off x="822960" y="5440680"/>
            <a:ext cx="2377440" cy="502920"/>
          </a:xfrm>
          <a:prstGeom prst="rect">
            <a:avLst/>
          </a:prstGeom>
          <a:noFill/>
          <a:ln/>
        </p:spPr>
        <p:txBody>
          <a:bodyPr wrap="square" rtlCol="0" anchor="ctr"/>
          <a:lstStyle/>
          <a:p>
            <a:pPr indent="0" marL="0">
              <a:lnSpc>
                <a:spcPts val="1200"/>
              </a:lnSpc>
              <a:buNone/>
            </a:pPr>
            <a:r>
              <a:rPr lang="en-US" sz="950" dirty="0">
                <a:solidFill>
                  <a:srgbClr val="E2E8F0"/>
                </a:solidFill>
                <a:latin typeface="Arial" pitchFamily="34" charset="0"/>
                <a:ea typeface="Arial" pitchFamily="34" charset="-122"/>
                <a:cs typeface="Arial" pitchFamily="34" charset="-120"/>
              </a:rPr>
              <a:t>Spring Data JPA | Hibernate ORM | HikariCP Pool | MySQL 8.0 (ACID)</a:t>
            </a:r>
            <a:endParaRPr lang="en-US" sz="950" dirty="0"/>
          </a:p>
        </p:txBody>
      </p:sp>
      <p:sp>
        <p:nvSpPr>
          <p:cNvPr id="27" name="Text 25"/>
          <p:cNvSpPr/>
          <p:nvPr/>
        </p:nvSpPr>
        <p:spPr>
          <a:xfrm>
            <a:off x="3474720" y="5120640"/>
            <a:ext cx="7680960" cy="777240"/>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10 relational tables in Third Normal Form (3NF). B-Tree composite indexing on spatial coordinates and status. Declarative transaction rollbacks on failure.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3: CORE ALGORITHMS</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Smart Algorithm 1: Dynamic Priority Scoring Engine</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7 / 16</a:t>
            </a:r>
            <a:endParaRPr lang="en-US" sz="900" dirty="0"/>
          </a:p>
        </p:txBody>
      </p:sp>
      <p:sp>
        <p:nvSpPr>
          <p:cNvPr id="8" name="Shape 6"/>
          <p:cNvSpPr/>
          <p:nvPr/>
        </p:nvSpPr>
        <p:spPr>
          <a:xfrm>
            <a:off x="731520" y="1554480"/>
            <a:ext cx="10698480" cy="731520"/>
          </a:xfrm>
          <a:prstGeom prst="roundRect">
            <a:avLst/>
          </a:prstGeom>
          <a:solidFill>
            <a:srgbClr val="1E3A8A"/>
          </a:solidFill>
          <a:ln w="19050">
            <a:solidFill>
              <a:srgbClr val="2563EB"/>
            </a:solidFill>
            <a:prstDash val="solid"/>
          </a:ln>
        </p:spPr>
      </p:sp>
      <p:sp>
        <p:nvSpPr>
          <p:cNvPr id="9" name="Text 7"/>
          <p:cNvSpPr/>
          <p:nvPr/>
        </p:nvSpPr>
        <p:spPr>
          <a:xfrm>
            <a:off x="731520" y="1554480"/>
            <a:ext cx="10698480" cy="731520"/>
          </a:xfrm>
          <a:prstGeom prst="rect">
            <a:avLst/>
          </a:prstGeom>
          <a:noFill/>
          <a:ln/>
        </p:spPr>
        <p:txBody>
          <a:bodyPr wrap="square"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Mathematical Formula:   Priority Score (P)  =  S_base  +  V_boost  +  A_escalation  +  K_bonus   ∈  [0.0, 100.0]</a:t>
            </a:r>
            <a:endParaRPr lang="en-US" sz="1400" dirty="0"/>
          </a:p>
        </p:txBody>
      </p:sp>
      <p:sp>
        <p:nvSpPr>
          <p:cNvPr id="10" name="Shape 8"/>
          <p:cNvSpPr/>
          <p:nvPr/>
        </p:nvSpPr>
        <p:spPr>
          <a:xfrm>
            <a:off x="731520" y="2468880"/>
            <a:ext cx="2468880" cy="2377440"/>
          </a:xfrm>
          <a:prstGeom prst="roundRect">
            <a:avLst/>
          </a:prstGeom>
          <a:solidFill>
            <a:srgbClr val="FFFFFF"/>
          </a:solidFill>
          <a:ln w="19050">
            <a:solidFill>
              <a:srgbClr val="E2E8F0"/>
            </a:solidFill>
            <a:prstDash val="solid"/>
          </a:ln>
        </p:spPr>
      </p:sp>
      <p:sp>
        <p:nvSpPr>
          <p:cNvPr id="11" name="Text 9"/>
          <p:cNvSpPr/>
          <p:nvPr/>
        </p:nvSpPr>
        <p:spPr>
          <a:xfrm>
            <a:off x="868680" y="2606040"/>
            <a:ext cx="2194560" cy="320040"/>
          </a:xfrm>
          <a:prstGeom prst="rect">
            <a:avLst/>
          </a:prstGeom>
          <a:noFill/>
          <a:ln/>
        </p:spPr>
        <p:txBody>
          <a:bodyPr wrap="square" rtlCol="0" anchor="ctr"/>
          <a:lstStyle/>
          <a:p>
            <a:pPr algn="ctr" indent="0" marL="0">
              <a:buNone/>
            </a:pPr>
            <a:r>
              <a:rPr lang="en-US" sz="1400" b="1" dirty="0">
                <a:solidFill>
                  <a:srgbClr val="2563EB"/>
                </a:solidFill>
                <a:latin typeface="Courier New" pitchFamily="34" charset="0"/>
                <a:ea typeface="Courier New" pitchFamily="34" charset="-122"/>
                <a:cs typeface="Courier New" pitchFamily="34" charset="-120"/>
              </a:rPr>
              <a:t>S_base</a:t>
            </a:r>
            <a:endParaRPr lang="en-US" sz="1400" dirty="0"/>
          </a:p>
        </p:txBody>
      </p:sp>
      <p:sp>
        <p:nvSpPr>
          <p:cNvPr id="12" name="Text 10"/>
          <p:cNvSpPr/>
          <p:nvPr/>
        </p:nvSpPr>
        <p:spPr>
          <a:xfrm>
            <a:off x="868680" y="2880360"/>
            <a:ext cx="2194560" cy="2743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Base Severity</a:t>
            </a:r>
            <a:endParaRPr lang="en-US" sz="1100" dirty="0"/>
          </a:p>
        </p:txBody>
      </p:sp>
      <p:sp>
        <p:nvSpPr>
          <p:cNvPr id="13" name="Text 11"/>
          <p:cNvSpPr/>
          <p:nvPr/>
        </p:nvSpPr>
        <p:spPr>
          <a:xfrm>
            <a:off x="868680" y="3200400"/>
            <a:ext cx="2194560" cy="274320"/>
          </a:xfrm>
          <a:prstGeom prst="rect">
            <a:avLst/>
          </a:prstGeom>
          <a:noFill/>
          <a:ln/>
        </p:spPr>
        <p:txBody>
          <a:bodyPr wrap="square" rtlCol="0" anchor="ctr"/>
          <a:lstStyle/>
          <a:p>
            <a:pPr algn="ctr" indent="0" marL="0">
              <a:buNone/>
            </a:pPr>
            <a:r>
              <a:rPr lang="en-US" sz="1000" dirty="0">
                <a:solidFill>
                  <a:srgbClr val="E11D48"/>
                </a:solidFill>
                <a:latin typeface="Courier New" pitchFamily="34" charset="0"/>
                <a:ea typeface="Courier New" pitchFamily="34" charset="-122"/>
                <a:cs typeface="Courier New" pitchFamily="34" charset="-120"/>
              </a:rPr>
              <a:t>Severity × 15.0</a:t>
            </a:r>
            <a:endParaRPr lang="en-US" sz="1000" dirty="0"/>
          </a:p>
        </p:txBody>
      </p:sp>
      <p:sp>
        <p:nvSpPr>
          <p:cNvPr id="14" name="Text 12"/>
          <p:cNvSpPr/>
          <p:nvPr/>
        </p:nvSpPr>
        <p:spPr>
          <a:xfrm>
            <a:off x="868680" y="3474720"/>
            <a:ext cx="2194560" cy="22860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Bounds: [15.0 – 75.0]</a:t>
            </a:r>
            <a:endParaRPr lang="en-US" sz="950" dirty="0"/>
          </a:p>
        </p:txBody>
      </p:sp>
      <p:sp>
        <p:nvSpPr>
          <p:cNvPr id="15" name="Text 13"/>
          <p:cNvSpPr/>
          <p:nvPr/>
        </p:nvSpPr>
        <p:spPr>
          <a:xfrm>
            <a:off x="914400" y="3749040"/>
            <a:ext cx="2103120" cy="1005840"/>
          </a:xfrm>
          <a:prstGeom prst="rect">
            <a:avLst/>
          </a:prstGeom>
          <a:noFill/>
          <a:ln/>
        </p:spPr>
        <p:txBody>
          <a:bodyPr wrap="square" rtlCol="0" anchor="ctr"/>
          <a:lstStyle/>
          <a:p>
            <a:pPr indent="0" marL="0">
              <a:lnSpc>
                <a:spcPts val="1400"/>
              </a:lnSpc>
              <a:buNone/>
            </a:pPr>
            <a:r>
              <a:rPr lang="en-US" sz="950" dirty="0">
                <a:solidFill>
                  <a:srgbClr val="0F172A"/>
                </a:solidFill>
                <a:latin typeface="Arial" pitchFamily="34" charset="0"/>
                <a:ea typeface="Arial" pitchFamily="34" charset="-122"/>
                <a:cs typeface="Arial" pitchFamily="34" charset="-120"/>
              </a:rPr>
              <a:t>Assigned 1 to 5 scale by citizen or verified by admin based on physical magnitude of issue.</a:t>
            </a:r>
            <a:endParaRPr lang="en-US" sz="950" dirty="0"/>
          </a:p>
        </p:txBody>
      </p:sp>
      <p:sp>
        <p:nvSpPr>
          <p:cNvPr id="16" name="Shape 14"/>
          <p:cNvSpPr/>
          <p:nvPr/>
        </p:nvSpPr>
        <p:spPr>
          <a:xfrm>
            <a:off x="3474720" y="2468880"/>
            <a:ext cx="2468880" cy="2377440"/>
          </a:xfrm>
          <a:prstGeom prst="roundRect">
            <a:avLst/>
          </a:prstGeom>
          <a:solidFill>
            <a:srgbClr val="FFFFFF"/>
          </a:solidFill>
          <a:ln w="19050">
            <a:solidFill>
              <a:srgbClr val="E2E8F0"/>
            </a:solidFill>
            <a:prstDash val="solid"/>
          </a:ln>
        </p:spPr>
      </p:sp>
      <p:sp>
        <p:nvSpPr>
          <p:cNvPr id="17" name="Text 15"/>
          <p:cNvSpPr/>
          <p:nvPr/>
        </p:nvSpPr>
        <p:spPr>
          <a:xfrm>
            <a:off x="3611880" y="2606040"/>
            <a:ext cx="2194560" cy="320040"/>
          </a:xfrm>
          <a:prstGeom prst="rect">
            <a:avLst/>
          </a:prstGeom>
          <a:noFill/>
          <a:ln/>
        </p:spPr>
        <p:txBody>
          <a:bodyPr wrap="square" rtlCol="0" anchor="ctr"/>
          <a:lstStyle/>
          <a:p>
            <a:pPr algn="ctr" indent="0" marL="0">
              <a:buNone/>
            </a:pPr>
            <a:r>
              <a:rPr lang="en-US" sz="1400" b="1" dirty="0">
                <a:solidFill>
                  <a:srgbClr val="2563EB"/>
                </a:solidFill>
                <a:latin typeface="Courier New" pitchFamily="34" charset="0"/>
                <a:ea typeface="Courier New" pitchFamily="34" charset="-122"/>
                <a:cs typeface="Courier New" pitchFamily="34" charset="-120"/>
              </a:rPr>
              <a:t>V_boost</a:t>
            </a:r>
            <a:endParaRPr lang="en-US" sz="1400" dirty="0"/>
          </a:p>
        </p:txBody>
      </p:sp>
      <p:sp>
        <p:nvSpPr>
          <p:cNvPr id="18" name="Text 16"/>
          <p:cNvSpPr/>
          <p:nvPr/>
        </p:nvSpPr>
        <p:spPr>
          <a:xfrm>
            <a:off x="3611880" y="2880360"/>
            <a:ext cx="2194560" cy="2743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Community Votes</a:t>
            </a:r>
            <a:endParaRPr lang="en-US" sz="1100" dirty="0"/>
          </a:p>
        </p:txBody>
      </p:sp>
      <p:sp>
        <p:nvSpPr>
          <p:cNvPr id="19" name="Text 17"/>
          <p:cNvSpPr/>
          <p:nvPr/>
        </p:nvSpPr>
        <p:spPr>
          <a:xfrm>
            <a:off x="3611880" y="3200400"/>
            <a:ext cx="2194560" cy="274320"/>
          </a:xfrm>
          <a:prstGeom prst="rect">
            <a:avLst/>
          </a:prstGeom>
          <a:noFill/>
          <a:ln/>
        </p:spPr>
        <p:txBody>
          <a:bodyPr wrap="square" rtlCol="0" anchor="ctr"/>
          <a:lstStyle/>
          <a:p>
            <a:pPr algn="ctr" indent="0" marL="0">
              <a:buNone/>
            </a:pPr>
            <a:r>
              <a:rPr lang="en-US" sz="1000" dirty="0">
                <a:solidFill>
                  <a:srgbClr val="E11D48"/>
                </a:solidFill>
                <a:latin typeface="Courier New" pitchFamily="34" charset="0"/>
                <a:ea typeface="Courier New" pitchFamily="34" charset="-122"/>
                <a:cs typeface="Courier New" pitchFamily="34" charset="-120"/>
              </a:rPr>
              <a:t>min(Votes × 2.0, 10.0)</a:t>
            </a:r>
            <a:endParaRPr lang="en-US" sz="1000" dirty="0"/>
          </a:p>
        </p:txBody>
      </p:sp>
      <p:sp>
        <p:nvSpPr>
          <p:cNvPr id="20" name="Text 18"/>
          <p:cNvSpPr/>
          <p:nvPr/>
        </p:nvSpPr>
        <p:spPr>
          <a:xfrm>
            <a:off x="3611880" y="3474720"/>
            <a:ext cx="2194560" cy="22860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Bounds: [0.0 – 10.0]</a:t>
            </a:r>
            <a:endParaRPr lang="en-US" sz="950" dirty="0"/>
          </a:p>
        </p:txBody>
      </p:sp>
      <p:sp>
        <p:nvSpPr>
          <p:cNvPr id="21" name="Text 19"/>
          <p:cNvSpPr/>
          <p:nvPr/>
        </p:nvSpPr>
        <p:spPr>
          <a:xfrm>
            <a:off x="3657600" y="3749040"/>
            <a:ext cx="2103120" cy="1005840"/>
          </a:xfrm>
          <a:prstGeom prst="rect">
            <a:avLst/>
          </a:prstGeom>
          <a:noFill/>
          <a:ln/>
        </p:spPr>
        <p:txBody>
          <a:bodyPr wrap="square" rtlCol="0" anchor="ctr"/>
          <a:lstStyle/>
          <a:p>
            <a:pPr indent="0" marL="0">
              <a:lnSpc>
                <a:spcPts val="1400"/>
              </a:lnSpc>
              <a:buNone/>
            </a:pPr>
            <a:r>
              <a:rPr lang="en-US" sz="950" dirty="0">
                <a:solidFill>
                  <a:srgbClr val="0F172A"/>
                </a:solidFill>
                <a:latin typeface="Arial" pitchFamily="34" charset="0"/>
                <a:ea typeface="Arial" pitchFamily="34" charset="-122"/>
                <a:cs typeface="Arial" pitchFamily="34" charset="-120"/>
              </a:rPr>
              <a:t>Crowdsourced democratic upvoting by verified local residents amplifies attention.</a:t>
            </a:r>
            <a:endParaRPr lang="en-US" sz="950" dirty="0"/>
          </a:p>
        </p:txBody>
      </p:sp>
      <p:sp>
        <p:nvSpPr>
          <p:cNvPr id="22" name="Shape 20"/>
          <p:cNvSpPr/>
          <p:nvPr/>
        </p:nvSpPr>
        <p:spPr>
          <a:xfrm>
            <a:off x="6217920" y="2468880"/>
            <a:ext cx="2468880" cy="2377440"/>
          </a:xfrm>
          <a:prstGeom prst="roundRect">
            <a:avLst/>
          </a:prstGeom>
          <a:solidFill>
            <a:srgbClr val="FFFFFF"/>
          </a:solidFill>
          <a:ln w="19050">
            <a:solidFill>
              <a:srgbClr val="E2E8F0"/>
            </a:solidFill>
            <a:prstDash val="solid"/>
          </a:ln>
        </p:spPr>
      </p:sp>
      <p:sp>
        <p:nvSpPr>
          <p:cNvPr id="23" name="Text 21"/>
          <p:cNvSpPr/>
          <p:nvPr/>
        </p:nvSpPr>
        <p:spPr>
          <a:xfrm>
            <a:off x="6355080" y="2606040"/>
            <a:ext cx="2194560" cy="320040"/>
          </a:xfrm>
          <a:prstGeom prst="rect">
            <a:avLst/>
          </a:prstGeom>
          <a:noFill/>
          <a:ln/>
        </p:spPr>
        <p:txBody>
          <a:bodyPr wrap="square" rtlCol="0" anchor="ctr"/>
          <a:lstStyle/>
          <a:p>
            <a:pPr algn="ctr" indent="0" marL="0">
              <a:buNone/>
            </a:pPr>
            <a:r>
              <a:rPr lang="en-US" sz="1400" b="1" dirty="0">
                <a:solidFill>
                  <a:srgbClr val="2563EB"/>
                </a:solidFill>
                <a:latin typeface="Courier New" pitchFamily="34" charset="0"/>
                <a:ea typeface="Courier New" pitchFamily="34" charset="-122"/>
                <a:cs typeface="Courier New" pitchFamily="34" charset="-120"/>
              </a:rPr>
              <a:t>A_escalation</a:t>
            </a:r>
            <a:endParaRPr lang="en-US" sz="1400" dirty="0"/>
          </a:p>
        </p:txBody>
      </p:sp>
      <p:sp>
        <p:nvSpPr>
          <p:cNvPr id="24" name="Text 22"/>
          <p:cNvSpPr/>
          <p:nvPr/>
        </p:nvSpPr>
        <p:spPr>
          <a:xfrm>
            <a:off x="6355080" y="2880360"/>
            <a:ext cx="2194560" cy="2743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Aging Escalation</a:t>
            </a:r>
            <a:endParaRPr lang="en-US" sz="1100" dirty="0"/>
          </a:p>
        </p:txBody>
      </p:sp>
      <p:sp>
        <p:nvSpPr>
          <p:cNvPr id="25" name="Text 23"/>
          <p:cNvSpPr/>
          <p:nvPr/>
        </p:nvSpPr>
        <p:spPr>
          <a:xfrm>
            <a:off x="6355080" y="3200400"/>
            <a:ext cx="2194560" cy="274320"/>
          </a:xfrm>
          <a:prstGeom prst="rect">
            <a:avLst/>
          </a:prstGeom>
          <a:noFill/>
          <a:ln/>
        </p:spPr>
        <p:txBody>
          <a:bodyPr wrap="square" rtlCol="0" anchor="ctr"/>
          <a:lstStyle/>
          <a:p>
            <a:pPr algn="ctr" indent="0" marL="0">
              <a:buNone/>
            </a:pPr>
            <a:r>
              <a:rPr lang="en-US" sz="1000" dirty="0">
                <a:solidFill>
                  <a:srgbClr val="E11D48"/>
                </a:solidFill>
                <a:latin typeface="Courier New" pitchFamily="34" charset="0"/>
                <a:ea typeface="Courier New" pitchFamily="34" charset="-122"/>
                <a:cs typeface="Courier New" pitchFamily="34" charset="-120"/>
              </a:rPr>
              <a:t>min(Days × 1.0, 10.0)</a:t>
            </a:r>
            <a:endParaRPr lang="en-US" sz="1000" dirty="0"/>
          </a:p>
        </p:txBody>
      </p:sp>
      <p:sp>
        <p:nvSpPr>
          <p:cNvPr id="26" name="Text 24"/>
          <p:cNvSpPr/>
          <p:nvPr/>
        </p:nvSpPr>
        <p:spPr>
          <a:xfrm>
            <a:off x="6355080" y="3474720"/>
            <a:ext cx="2194560" cy="22860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Bounds: [0.0 – 10.0]</a:t>
            </a:r>
            <a:endParaRPr lang="en-US" sz="950" dirty="0"/>
          </a:p>
        </p:txBody>
      </p:sp>
      <p:sp>
        <p:nvSpPr>
          <p:cNvPr id="27" name="Text 25"/>
          <p:cNvSpPr/>
          <p:nvPr/>
        </p:nvSpPr>
        <p:spPr>
          <a:xfrm>
            <a:off x="6400800" y="3749040"/>
            <a:ext cx="2103120" cy="1005840"/>
          </a:xfrm>
          <a:prstGeom prst="rect">
            <a:avLst/>
          </a:prstGeom>
          <a:noFill/>
          <a:ln/>
        </p:spPr>
        <p:txBody>
          <a:bodyPr wrap="square" rtlCol="0" anchor="ctr"/>
          <a:lstStyle/>
          <a:p>
            <a:pPr indent="0" marL="0">
              <a:lnSpc>
                <a:spcPts val="1400"/>
              </a:lnSpc>
              <a:buNone/>
            </a:pPr>
            <a:r>
              <a:rPr lang="en-US" sz="950" dirty="0">
                <a:solidFill>
                  <a:srgbClr val="0F172A"/>
                </a:solidFill>
                <a:latin typeface="Arial" pitchFamily="34" charset="0"/>
                <a:ea typeface="Arial" pitchFamily="34" charset="-122"/>
                <a:cs typeface="Arial" pitchFamily="34" charset="-120"/>
              </a:rPr>
              <a:t>Increases 1 point per day unsolved. Guarantees neglected issues bubble to the top.</a:t>
            </a:r>
            <a:endParaRPr lang="en-US" sz="950" dirty="0"/>
          </a:p>
        </p:txBody>
      </p:sp>
      <p:sp>
        <p:nvSpPr>
          <p:cNvPr id="28" name="Shape 26"/>
          <p:cNvSpPr/>
          <p:nvPr/>
        </p:nvSpPr>
        <p:spPr>
          <a:xfrm>
            <a:off x="8961120" y="2468880"/>
            <a:ext cx="2468880" cy="2377440"/>
          </a:xfrm>
          <a:prstGeom prst="roundRect">
            <a:avLst/>
          </a:prstGeom>
          <a:solidFill>
            <a:srgbClr val="FFFFFF"/>
          </a:solidFill>
          <a:ln w="19050">
            <a:solidFill>
              <a:srgbClr val="E2E8F0"/>
            </a:solidFill>
            <a:prstDash val="solid"/>
          </a:ln>
        </p:spPr>
      </p:sp>
      <p:sp>
        <p:nvSpPr>
          <p:cNvPr id="29" name="Text 27"/>
          <p:cNvSpPr/>
          <p:nvPr/>
        </p:nvSpPr>
        <p:spPr>
          <a:xfrm>
            <a:off x="9098280" y="2606040"/>
            <a:ext cx="2194560" cy="320040"/>
          </a:xfrm>
          <a:prstGeom prst="rect">
            <a:avLst/>
          </a:prstGeom>
          <a:noFill/>
          <a:ln/>
        </p:spPr>
        <p:txBody>
          <a:bodyPr wrap="square" rtlCol="0" anchor="ctr"/>
          <a:lstStyle/>
          <a:p>
            <a:pPr algn="ctr" indent="0" marL="0">
              <a:buNone/>
            </a:pPr>
            <a:r>
              <a:rPr lang="en-US" sz="1400" b="1" dirty="0">
                <a:solidFill>
                  <a:srgbClr val="2563EB"/>
                </a:solidFill>
                <a:latin typeface="Courier New" pitchFamily="34" charset="0"/>
                <a:ea typeface="Courier New" pitchFamily="34" charset="-122"/>
                <a:cs typeface="Courier New" pitchFamily="34" charset="-120"/>
              </a:rPr>
              <a:t>K_bonus</a:t>
            </a:r>
            <a:endParaRPr lang="en-US" sz="1400" dirty="0"/>
          </a:p>
        </p:txBody>
      </p:sp>
      <p:sp>
        <p:nvSpPr>
          <p:cNvPr id="30" name="Text 28"/>
          <p:cNvSpPr/>
          <p:nvPr/>
        </p:nvSpPr>
        <p:spPr>
          <a:xfrm>
            <a:off x="9098280" y="2880360"/>
            <a:ext cx="2194560" cy="27432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Hazard Keywords</a:t>
            </a:r>
            <a:endParaRPr lang="en-US" sz="1100" dirty="0"/>
          </a:p>
        </p:txBody>
      </p:sp>
      <p:sp>
        <p:nvSpPr>
          <p:cNvPr id="31" name="Text 29"/>
          <p:cNvSpPr/>
          <p:nvPr/>
        </p:nvSpPr>
        <p:spPr>
          <a:xfrm>
            <a:off x="9098280" y="3200400"/>
            <a:ext cx="2194560" cy="274320"/>
          </a:xfrm>
          <a:prstGeom prst="rect">
            <a:avLst/>
          </a:prstGeom>
          <a:noFill/>
          <a:ln/>
        </p:spPr>
        <p:txBody>
          <a:bodyPr wrap="square" rtlCol="0" anchor="ctr"/>
          <a:lstStyle/>
          <a:p>
            <a:pPr algn="ctr" indent="0" marL="0">
              <a:buNone/>
            </a:pPr>
            <a:r>
              <a:rPr lang="en-US" sz="1000" dirty="0">
                <a:solidFill>
                  <a:srgbClr val="E11D48"/>
                </a:solidFill>
                <a:latin typeface="Courier New" pitchFamily="34" charset="0"/>
                <a:ea typeface="Courier New" pitchFamily="34" charset="-122"/>
                <a:cs typeface="Courier New" pitchFamily="34" charset="-120"/>
              </a:rPr>
              <a:t>+5.0 if matched</a:t>
            </a:r>
            <a:endParaRPr lang="en-US" sz="1000" dirty="0"/>
          </a:p>
        </p:txBody>
      </p:sp>
      <p:sp>
        <p:nvSpPr>
          <p:cNvPr id="32" name="Text 30"/>
          <p:cNvSpPr/>
          <p:nvPr/>
        </p:nvSpPr>
        <p:spPr>
          <a:xfrm>
            <a:off x="9098280" y="3474720"/>
            <a:ext cx="2194560" cy="22860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Bounds: [0.0 or 5.0]</a:t>
            </a:r>
            <a:endParaRPr lang="en-US" sz="950" dirty="0"/>
          </a:p>
        </p:txBody>
      </p:sp>
      <p:sp>
        <p:nvSpPr>
          <p:cNvPr id="33" name="Text 31"/>
          <p:cNvSpPr/>
          <p:nvPr/>
        </p:nvSpPr>
        <p:spPr>
          <a:xfrm>
            <a:off x="9144000" y="3749040"/>
            <a:ext cx="2103120" cy="1005840"/>
          </a:xfrm>
          <a:prstGeom prst="rect">
            <a:avLst/>
          </a:prstGeom>
          <a:noFill/>
          <a:ln/>
        </p:spPr>
        <p:txBody>
          <a:bodyPr wrap="square" rtlCol="0" anchor="ctr"/>
          <a:lstStyle/>
          <a:p>
            <a:pPr indent="0" marL="0">
              <a:lnSpc>
                <a:spcPts val="1400"/>
              </a:lnSpc>
              <a:buNone/>
            </a:pPr>
            <a:r>
              <a:rPr lang="en-US" sz="950" dirty="0">
                <a:solidFill>
                  <a:srgbClr val="0F172A"/>
                </a:solidFill>
                <a:latin typeface="Arial" pitchFamily="34" charset="0"/>
                <a:ea typeface="Arial" pitchFamily="34" charset="-122"/>
                <a:cs typeface="Arial" pitchFamily="34" charset="-120"/>
              </a:rPr>
              <a:t>NLP scan for danger keywords: "spark", "collapse", "danger", "fire", "burst", "overflow".</a:t>
            </a:r>
            <a:endParaRPr lang="en-US" sz="950" dirty="0"/>
          </a:p>
        </p:txBody>
      </p:sp>
      <p:sp>
        <p:nvSpPr>
          <p:cNvPr id="34" name="Shape 32"/>
          <p:cNvSpPr/>
          <p:nvPr/>
        </p:nvSpPr>
        <p:spPr>
          <a:xfrm>
            <a:off x="731520" y="5029200"/>
            <a:ext cx="10698480" cy="1005840"/>
          </a:xfrm>
          <a:prstGeom prst="roundRect">
            <a:avLst/>
          </a:prstGeom>
          <a:solidFill>
            <a:srgbClr val="FFFFFF"/>
          </a:solidFill>
          <a:ln w="19050">
            <a:solidFill>
              <a:srgbClr val="E2E8F0"/>
            </a:solidFill>
            <a:prstDash val="solid"/>
          </a:ln>
        </p:spPr>
      </p:sp>
      <p:sp>
        <p:nvSpPr>
          <p:cNvPr id="35" name="Text 33"/>
          <p:cNvSpPr/>
          <p:nvPr/>
        </p:nvSpPr>
        <p:spPr>
          <a:xfrm>
            <a:off x="914400" y="5120640"/>
            <a:ext cx="1033272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Automated SLA Urgency Classification Tiers:</a:t>
            </a:r>
            <a:endParaRPr lang="en-US" sz="1100" dirty="0"/>
          </a:p>
        </p:txBody>
      </p:sp>
      <p:sp>
        <p:nvSpPr>
          <p:cNvPr id="36" name="Shape 34"/>
          <p:cNvSpPr/>
          <p:nvPr/>
        </p:nvSpPr>
        <p:spPr>
          <a:xfrm>
            <a:off x="914400" y="5486400"/>
            <a:ext cx="2423160" cy="411480"/>
          </a:xfrm>
          <a:prstGeom prst="roundRect">
            <a:avLst/>
          </a:prstGeom>
          <a:solidFill>
            <a:srgbClr val="E11D48"/>
          </a:solidFill>
          <a:ln/>
        </p:spPr>
      </p:sp>
      <p:sp>
        <p:nvSpPr>
          <p:cNvPr id="37" name="Text 35"/>
          <p:cNvSpPr/>
          <p:nvPr/>
        </p:nvSpPr>
        <p:spPr>
          <a:xfrm>
            <a:off x="914400" y="5486400"/>
            <a:ext cx="2423160" cy="41148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CRITICAL (≥ 85.0)</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Immediate dispatch (24h SLA)</a:t>
            </a:r>
            <a:endParaRPr lang="en-US" sz="850" dirty="0"/>
          </a:p>
        </p:txBody>
      </p:sp>
      <p:sp>
        <p:nvSpPr>
          <p:cNvPr id="38" name="Shape 36"/>
          <p:cNvSpPr/>
          <p:nvPr/>
        </p:nvSpPr>
        <p:spPr>
          <a:xfrm>
            <a:off x="3520440" y="5486400"/>
            <a:ext cx="2423160" cy="411480"/>
          </a:xfrm>
          <a:prstGeom prst="roundRect">
            <a:avLst/>
          </a:prstGeom>
          <a:solidFill>
            <a:srgbClr val="D97706"/>
          </a:solidFill>
          <a:ln/>
        </p:spPr>
      </p:sp>
      <p:sp>
        <p:nvSpPr>
          <p:cNvPr id="39" name="Text 37"/>
          <p:cNvSpPr/>
          <p:nvPr/>
        </p:nvSpPr>
        <p:spPr>
          <a:xfrm>
            <a:off x="3520440" y="5486400"/>
            <a:ext cx="2423160" cy="41148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HIGH (65.0 – 84.9)</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Expedited resolution (48h SLA)</a:t>
            </a:r>
            <a:endParaRPr lang="en-US" sz="850" dirty="0"/>
          </a:p>
        </p:txBody>
      </p:sp>
      <p:sp>
        <p:nvSpPr>
          <p:cNvPr id="40" name="Shape 38"/>
          <p:cNvSpPr/>
          <p:nvPr/>
        </p:nvSpPr>
        <p:spPr>
          <a:xfrm>
            <a:off x="6126480" y="5486400"/>
            <a:ext cx="2423160" cy="411480"/>
          </a:xfrm>
          <a:prstGeom prst="roundRect">
            <a:avLst/>
          </a:prstGeom>
          <a:solidFill>
            <a:srgbClr val="2563EB"/>
          </a:solidFill>
          <a:ln/>
        </p:spPr>
      </p:sp>
      <p:sp>
        <p:nvSpPr>
          <p:cNvPr id="41" name="Text 39"/>
          <p:cNvSpPr/>
          <p:nvPr/>
        </p:nvSpPr>
        <p:spPr>
          <a:xfrm>
            <a:off x="6126480" y="5486400"/>
            <a:ext cx="2423160" cy="41148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MEDIUM (35.0 – 64.9)</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Scheduled maintenance (5d SLA)</a:t>
            </a:r>
            <a:endParaRPr lang="en-US" sz="850" dirty="0"/>
          </a:p>
        </p:txBody>
      </p:sp>
      <p:sp>
        <p:nvSpPr>
          <p:cNvPr id="42" name="Shape 40"/>
          <p:cNvSpPr/>
          <p:nvPr/>
        </p:nvSpPr>
        <p:spPr>
          <a:xfrm>
            <a:off x="8732520" y="5486400"/>
            <a:ext cx="2423160" cy="411480"/>
          </a:xfrm>
          <a:prstGeom prst="roundRect">
            <a:avLst/>
          </a:prstGeom>
          <a:solidFill>
            <a:srgbClr val="059669"/>
          </a:solidFill>
          <a:ln/>
        </p:spPr>
      </p:sp>
      <p:sp>
        <p:nvSpPr>
          <p:cNvPr id="43" name="Text 41"/>
          <p:cNvSpPr/>
          <p:nvPr/>
        </p:nvSpPr>
        <p:spPr>
          <a:xfrm>
            <a:off x="8732520" y="5486400"/>
            <a:ext cx="2423160" cy="41148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LOW (&lt; 35.0)</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Routine cosmetic repair (14d SLA)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3: CORE ALGORITHMS</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Smart Algorithm 2: Geospatial Duplicate Detection</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8 / 16</a:t>
            </a:r>
            <a:endParaRPr lang="en-US" sz="900" dirty="0"/>
          </a:p>
        </p:txBody>
      </p:sp>
      <p:sp>
        <p:nvSpPr>
          <p:cNvPr id="8" name="Shape 6"/>
          <p:cNvSpPr/>
          <p:nvPr/>
        </p:nvSpPr>
        <p:spPr>
          <a:xfrm>
            <a:off x="731520" y="1554480"/>
            <a:ext cx="5669280" cy="4572000"/>
          </a:xfrm>
          <a:prstGeom prst="roundRect">
            <a:avLst/>
          </a:prstGeom>
          <a:solidFill>
            <a:srgbClr val="FFFFFF"/>
          </a:solidFill>
          <a:ln w="19050">
            <a:solidFill>
              <a:srgbClr val="E2E8F0"/>
            </a:solidFill>
            <a:prstDash val="solid"/>
          </a:ln>
        </p:spPr>
      </p:sp>
      <p:sp>
        <p:nvSpPr>
          <p:cNvPr id="9" name="Text 7"/>
          <p:cNvSpPr/>
          <p:nvPr/>
        </p:nvSpPr>
        <p:spPr>
          <a:xfrm>
            <a:off x="1005840" y="1737360"/>
            <a:ext cx="5120640" cy="36576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Two-Stage Geospatial Duplicate Logic</a:t>
            </a:r>
            <a:endParaRPr lang="en-US" sz="1500" dirty="0"/>
          </a:p>
        </p:txBody>
      </p:sp>
      <p:sp>
        <p:nvSpPr>
          <p:cNvPr id="10" name="Shape 8"/>
          <p:cNvSpPr/>
          <p:nvPr/>
        </p:nvSpPr>
        <p:spPr>
          <a:xfrm>
            <a:off x="1005840" y="2194560"/>
            <a:ext cx="5120640" cy="868680"/>
          </a:xfrm>
          <a:prstGeom prst="roundRect">
            <a:avLst/>
          </a:prstGeom>
          <a:solidFill>
            <a:srgbClr val="F1F5F9"/>
          </a:solidFill>
          <a:ln/>
        </p:spPr>
      </p:sp>
      <p:sp>
        <p:nvSpPr>
          <p:cNvPr id="11" name="Text 9"/>
          <p:cNvSpPr/>
          <p:nvPr/>
        </p:nvSpPr>
        <p:spPr>
          <a:xfrm>
            <a:off x="1143000" y="2286000"/>
            <a:ext cx="4846320" cy="274320"/>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Stage 1: Radius Pre-Filtering (d ≤ 150m)</a:t>
            </a:r>
            <a:endParaRPr lang="en-US" sz="1100" dirty="0"/>
          </a:p>
        </p:txBody>
      </p:sp>
      <p:sp>
        <p:nvSpPr>
          <p:cNvPr id="12" name="Text 10"/>
          <p:cNvSpPr/>
          <p:nvPr/>
        </p:nvSpPr>
        <p:spPr>
          <a:xfrm>
            <a:off x="1143000" y="2542032"/>
            <a:ext cx="4846320" cy="45720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Retrieves all open complaints in the same category within 150 meters using database spatial bounding box.</a:t>
            </a:r>
            <a:endParaRPr lang="en-US" sz="950" dirty="0"/>
          </a:p>
        </p:txBody>
      </p:sp>
      <p:sp>
        <p:nvSpPr>
          <p:cNvPr id="13" name="Shape 11"/>
          <p:cNvSpPr/>
          <p:nvPr/>
        </p:nvSpPr>
        <p:spPr>
          <a:xfrm>
            <a:off x="1005840" y="3154680"/>
            <a:ext cx="5120640" cy="868680"/>
          </a:xfrm>
          <a:prstGeom prst="roundRect">
            <a:avLst/>
          </a:prstGeom>
          <a:solidFill>
            <a:srgbClr val="F1F5F9"/>
          </a:solidFill>
          <a:ln/>
        </p:spPr>
      </p:sp>
      <p:sp>
        <p:nvSpPr>
          <p:cNvPr id="14" name="Text 12"/>
          <p:cNvSpPr/>
          <p:nvPr/>
        </p:nvSpPr>
        <p:spPr>
          <a:xfrm>
            <a:off x="1143000" y="3246120"/>
            <a:ext cx="4846320" cy="274320"/>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Stage 2A: Immediate Proximity Check (d ≤ 40m)</a:t>
            </a:r>
            <a:endParaRPr lang="en-US" sz="1100" dirty="0"/>
          </a:p>
        </p:txBody>
      </p:sp>
      <p:sp>
        <p:nvSpPr>
          <p:cNvPr id="15" name="Text 13"/>
          <p:cNvSpPr/>
          <p:nvPr/>
        </p:nvSpPr>
        <p:spPr>
          <a:xfrm>
            <a:off x="1143000" y="3502152"/>
            <a:ext cx="4846320" cy="45720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If two reports occur within 40 meters in the same category (e.g. same street corner), it is flagged as an instant duplicate.</a:t>
            </a:r>
            <a:endParaRPr lang="en-US" sz="950" dirty="0"/>
          </a:p>
        </p:txBody>
      </p:sp>
      <p:sp>
        <p:nvSpPr>
          <p:cNvPr id="16" name="Shape 14"/>
          <p:cNvSpPr/>
          <p:nvPr/>
        </p:nvSpPr>
        <p:spPr>
          <a:xfrm>
            <a:off x="1005840" y="4114800"/>
            <a:ext cx="5120640" cy="868680"/>
          </a:xfrm>
          <a:prstGeom prst="roundRect">
            <a:avLst/>
          </a:prstGeom>
          <a:solidFill>
            <a:srgbClr val="F1F5F9"/>
          </a:solidFill>
          <a:ln/>
        </p:spPr>
      </p:sp>
      <p:sp>
        <p:nvSpPr>
          <p:cNvPr id="17" name="Text 15"/>
          <p:cNvSpPr/>
          <p:nvPr/>
        </p:nvSpPr>
        <p:spPr>
          <a:xfrm>
            <a:off x="1143000" y="4206240"/>
            <a:ext cx="4846320" cy="274320"/>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Stage 2B: Semantic Text Similarity (40m &lt; d ≤ 150m)</a:t>
            </a:r>
            <a:endParaRPr lang="en-US" sz="1100" dirty="0"/>
          </a:p>
        </p:txBody>
      </p:sp>
      <p:sp>
        <p:nvSpPr>
          <p:cNvPr id="18" name="Text 16"/>
          <p:cNvSpPr/>
          <p:nvPr/>
        </p:nvSpPr>
        <p:spPr>
          <a:xfrm>
            <a:off x="1143000" y="4462272"/>
            <a:ext cx="4846320" cy="45720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Computes Jaccard Token Similarity between titles and descriptions: J(A, B) = |A ∩ B| / |A ∪ B|. If J &gt; 0.25, flagged as duplicate.</a:t>
            </a:r>
            <a:endParaRPr lang="en-US" sz="950" dirty="0"/>
          </a:p>
        </p:txBody>
      </p:sp>
      <p:sp>
        <p:nvSpPr>
          <p:cNvPr id="19" name="Shape 17"/>
          <p:cNvSpPr/>
          <p:nvPr/>
        </p:nvSpPr>
        <p:spPr>
          <a:xfrm>
            <a:off x="1005840" y="5074920"/>
            <a:ext cx="5120640" cy="868680"/>
          </a:xfrm>
          <a:prstGeom prst="roundRect">
            <a:avLst/>
          </a:prstGeom>
          <a:solidFill>
            <a:srgbClr val="F1F5F9"/>
          </a:solidFill>
          <a:ln/>
        </p:spPr>
      </p:sp>
      <p:sp>
        <p:nvSpPr>
          <p:cNvPr id="20" name="Text 18"/>
          <p:cNvSpPr/>
          <p:nvPr/>
        </p:nvSpPr>
        <p:spPr>
          <a:xfrm>
            <a:off x="1143000" y="5166360"/>
            <a:ext cx="4846320" cy="274320"/>
          </a:xfrm>
          <a:prstGeom prst="rect">
            <a:avLst/>
          </a:prstGeom>
          <a:noFill/>
          <a:ln/>
        </p:spPr>
        <p:txBody>
          <a:bodyPr wrap="square" rtlCol="0" anchor="ctr"/>
          <a:lstStyle/>
          <a:p>
            <a:pPr indent="0" marL="0">
              <a:buNone/>
            </a:pPr>
            <a:r>
              <a:rPr lang="en-US" sz="1100" b="1" dirty="0">
                <a:solidFill>
                  <a:srgbClr val="1D4ED8"/>
                </a:solidFill>
                <a:latin typeface="Arial" pitchFamily="34" charset="0"/>
                <a:ea typeface="Arial" pitchFamily="34" charset="-122"/>
                <a:cs typeface="Arial" pitchFamily="34" charset="-120"/>
              </a:rPr>
              <a:t>Stage 3: Debounced Client-Side Warning</a:t>
            </a:r>
            <a:endParaRPr lang="en-US" sz="1100" dirty="0"/>
          </a:p>
        </p:txBody>
      </p:sp>
      <p:sp>
        <p:nvSpPr>
          <p:cNvPr id="21" name="Text 19"/>
          <p:cNvSpPr/>
          <p:nvPr/>
        </p:nvSpPr>
        <p:spPr>
          <a:xfrm>
            <a:off x="1143000" y="5422392"/>
            <a:ext cx="4846320" cy="45720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Warns citizen before submission, showing the existing complaint ID, distance, and providing an instant Upvote shortcut.</a:t>
            </a:r>
            <a:endParaRPr lang="en-US" sz="950" dirty="0"/>
          </a:p>
        </p:txBody>
      </p:sp>
      <p:sp>
        <p:nvSpPr>
          <p:cNvPr id="22" name="Shape 20"/>
          <p:cNvSpPr/>
          <p:nvPr/>
        </p:nvSpPr>
        <p:spPr>
          <a:xfrm>
            <a:off x="6675120" y="1554480"/>
            <a:ext cx="4754880" cy="4572000"/>
          </a:xfrm>
          <a:prstGeom prst="roundRect">
            <a:avLst/>
          </a:prstGeom>
          <a:solidFill>
            <a:srgbClr val="FFFFFF"/>
          </a:solidFill>
          <a:ln w="19050">
            <a:solidFill>
              <a:srgbClr val="E2E8F0"/>
            </a:solidFill>
            <a:prstDash val="solid"/>
          </a:ln>
        </p:spPr>
      </p:sp>
      <p:sp>
        <p:nvSpPr>
          <p:cNvPr id="23" name="Text 21"/>
          <p:cNvSpPr/>
          <p:nvPr/>
        </p:nvSpPr>
        <p:spPr>
          <a:xfrm>
            <a:off x="6949440" y="1737360"/>
            <a:ext cx="4206240" cy="365760"/>
          </a:xfrm>
          <a:prstGeom prst="rect">
            <a:avLst/>
          </a:prstGeom>
          <a:noFill/>
          <a:ln/>
        </p:spPr>
        <p:txBody>
          <a:bodyPr wrap="square" rtlCol="0" anchor="ctr"/>
          <a:lstStyle/>
          <a:p>
            <a:pPr indent="0" marL="0">
              <a:buNone/>
            </a:pPr>
            <a:r>
              <a:rPr lang="en-US" sz="1500" b="1" dirty="0">
                <a:solidFill>
                  <a:srgbClr val="0D9488"/>
                </a:solidFill>
                <a:latin typeface="Arial" pitchFamily="34" charset="0"/>
                <a:ea typeface="Arial" pitchFamily="34" charset="-122"/>
                <a:cs typeface="Arial" pitchFamily="34" charset="-120"/>
              </a:rPr>
              <a:t>Underlying Mathematical Formulas</a:t>
            </a:r>
            <a:endParaRPr lang="en-US" sz="1500" dirty="0"/>
          </a:p>
        </p:txBody>
      </p:sp>
      <p:sp>
        <p:nvSpPr>
          <p:cNvPr id="24" name="Text 22"/>
          <p:cNvSpPr/>
          <p:nvPr/>
        </p:nvSpPr>
        <p:spPr>
          <a:xfrm>
            <a:off x="6949440" y="2194560"/>
            <a:ext cx="420624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 Haversine Great-Circle Distance Formula:</a:t>
            </a:r>
            <a:endParaRPr lang="en-US" sz="1100" dirty="0"/>
          </a:p>
        </p:txBody>
      </p:sp>
      <p:sp>
        <p:nvSpPr>
          <p:cNvPr id="25" name="Shape 23"/>
          <p:cNvSpPr/>
          <p:nvPr/>
        </p:nvSpPr>
        <p:spPr>
          <a:xfrm>
            <a:off x="6949440" y="2514600"/>
            <a:ext cx="4206240" cy="1234440"/>
          </a:xfrm>
          <a:prstGeom prst="roundRect">
            <a:avLst/>
          </a:prstGeom>
          <a:solidFill>
            <a:srgbClr val="F1F5F9"/>
          </a:solidFill>
          <a:ln w="12700">
            <a:solidFill>
              <a:srgbClr val="E2E8F0"/>
            </a:solidFill>
            <a:prstDash val="solid"/>
          </a:ln>
        </p:spPr>
      </p:sp>
      <p:sp>
        <p:nvSpPr>
          <p:cNvPr id="26" name="Text 24"/>
          <p:cNvSpPr/>
          <p:nvPr/>
        </p:nvSpPr>
        <p:spPr>
          <a:xfrm>
            <a:off x="7132320" y="2606040"/>
            <a:ext cx="3840480" cy="1051560"/>
          </a:xfrm>
          <a:prstGeom prst="rect">
            <a:avLst/>
          </a:prstGeom>
          <a:noFill/>
          <a:ln/>
        </p:spPr>
        <p:txBody>
          <a:bodyPr wrap="square" rtlCol="0" anchor="ctr"/>
          <a:lstStyle/>
          <a:p>
            <a:pPr indent="0" marL="0">
              <a:buNone/>
            </a:pPr>
            <a:r>
              <a:rPr lang="en-US" sz="1000" dirty="0">
                <a:solidFill>
                  <a:srgbClr val="1D4ED8"/>
                </a:solidFill>
                <a:latin typeface="Courier New" pitchFamily="34" charset="0"/>
                <a:ea typeface="Courier New" pitchFamily="34" charset="-122"/>
                <a:cs typeface="Courier New" pitchFamily="34" charset="-120"/>
              </a:rPr>
              <a:t>a = sin²(Δφ/2) + cos φ₁ · cos φ₂ · sin²(Δλ/2)</a:t>
            </a:r>
            <a:endParaRPr lang="en-US" sz="1000" dirty="0"/>
          </a:p>
          <a:p>
            <a:pPr indent="0" marL="0">
              <a:buNone/>
            </a:pPr>
            <a:endParaRPr lang="en-US" sz="1000" dirty="0"/>
          </a:p>
          <a:p>
            <a:pPr indent="0" marL="0">
              <a:buNone/>
            </a:pPr>
            <a:r>
              <a:rPr lang="en-US" sz="1000" dirty="0">
                <a:solidFill>
                  <a:srgbClr val="1D4ED8"/>
                </a:solidFill>
                <a:latin typeface="Courier New" pitchFamily="34" charset="0"/>
                <a:ea typeface="Courier New" pitchFamily="34" charset="-122"/>
                <a:cs typeface="Courier New" pitchFamily="34" charset="-120"/>
              </a:rPr>
              <a:t>d = 2 · R · atan2( √a, √(1−a) )</a:t>
            </a:r>
            <a:endParaRPr lang="en-US" sz="1000" dirty="0"/>
          </a:p>
          <a:p>
            <a:pPr indent="0" marL="0">
              <a:buNone/>
            </a:pPr>
            <a:endParaRPr lang="en-US" sz="1000" dirty="0"/>
          </a:p>
          <a:p>
            <a:pPr indent="0" marL="0">
              <a:buNone/>
            </a:pPr>
            <a:r>
              <a:rPr lang="en-US" sz="1000" dirty="0">
                <a:solidFill>
                  <a:srgbClr val="1D4ED8"/>
                </a:solidFill>
                <a:latin typeface="Courier New" pitchFamily="34" charset="0"/>
                <a:ea typeface="Courier New" pitchFamily="34" charset="-122"/>
                <a:cs typeface="Courier New" pitchFamily="34" charset="-120"/>
              </a:rPr>
              <a:t>Where R = 6,371,000 meters (Earth radius)</a:t>
            </a:r>
            <a:endParaRPr lang="en-US" sz="1000" dirty="0"/>
          </a:p>
        </p:txBody>
      </p:sp>
      <p:sp>
        <p:nvSpPr>
          <p:cNvPr id="27" name="Text 25"/>
          <p:cNvSpPr/>
          <p:nvPr/>
        </p:nvSpPr>
        <p:spPr>
          <a:xfrm>
            <a:off x="6949440" y="3931920"/>
            <a:ext cx="420624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2. Jaccard Token Set Similarity:</a:t>
            </a:r>
            <a:endParaRPr lang="en-US" sz="1100" dirty="0"/>
          </a:p>
        </p:txBody>
      </p:sp>
      <p:sp>
        <p:nvSpPr>
          <p:cNvPr id="28" name="Shape 26"/>
          <p:cNvSpPr/>
          <p:nvPr/>
        </p:nvSpPr>
        <p:spPr>
          <a:xfrm>
            <a:off x="6949440" y="4251960"/>
            <a:ext cx="4206240" cy="1051560"/>
          </a:xfrm>
          <a:prstGeom prst="roundRect">
            <a:avLst/>
          </a:prstGeom>
          <a:solidFill>
            <a:srgbClr val="F1F5F9"/>
          </a:solidFill>
          <a:ln w="12700">
            <a:solidFill>
              <a:srgbClr val="E2E8F0"/>
            </a:solidFill>
            <a:prstDash val="solid"/>
          </a:ln>
        </p:spPr>
      </p:sp>
      <p:sp>
        <p:nvSpPr>
          <p:cNvPr id="29" name="Text 27"/>
          <p:cNvSpPr/>
          <p:nvPr/>
        </p:nvSpPr>
        <p:spPr>
          <a:xfrm>
            <a:off x="7132320" y="4343400"/>
            <a:ext cx="3840480" cy="868680"/>
          </a:xfrm>
          <a:prstGeom prst="rect">
            <a:avLst/>
          </a:prstGeom>
          <a:noFill/>
          <a:ln/>
        </p:spPr>
        <p:txBody>
          <a:bodyPr wrap="square" rtlCol="0" anchor="ctr"/>
          <a:lstStyle/>
          <a:p>
            <a:pPr indent="0" marL="0">
              <a:buNone/>
            </a:pPr>
            <a:r>
              <a:rPr lang="en-US" sz="1000" dirty="0">
                <a:solidFill>
                  <a:srgbClr val="E11D48"/>
                </a:solidFill>
                <a:latin typeface="Courier New" pitchFamily="34" charset="0"/>
                <a:ea typeface="Courier New" pitchFamily="34" charset="-122"/>
                <a:cs typeface="Courier New" pitchFamily="34" charset="-120"/>
              </a:rPr>
              <a:t>J(A, B) = |A ∩ B| / |A ∪ B|</a:t>
            </a:r>
            <a:endParaRPr lang="en-US" sz="1000" dirty="0"/>
          </a:p>
          <a:p>
            <a:pPr indent="0" marL="0">
              <a:buNone/>
            </a:pPr>
            <a:endParaRPr lang="en-US" sz="1000" dirty="0"/>
          </a:p>
          <a:p>
            <a:pPr indent="0" marL="0">
              <a:buNone/>
            </a:pPr>
            <a:r>
              <a:rPr lang="en-US" sz="1000" dirty="0">
                <a:solidFill>
                  <a:srgbClr val="E11D48"/>
                </a:solidFill>
                <a:latin typeface="Courier New" pitchFamily="34" charset="0"/>
                <a:ea typeface="Courier New" pitchFamily="34" charset="-122"/>
                <a:cs typeface="Courier New" pitchFamily="34" charset="-120"/>
              </a:rPr>
              <a:t>Threshold: If J(A, B) &gt; 0.25 (25% word overlap)</a:t>
            </a:r>
            <a:endParaRPr lang="en-US" sz="1000" dirty="0"/>
          </a:p>
          <a:p>
            <a:pPr indent="0" marL="0">
              <a:buNone/>
            </a:pPr>
            <a:r>
              <a:rPr lang="en-US" sz="1000" dirty="0">
                <a:solidFill>
                  <a:srgbClr val="E11D48"/>
                </a:solidFill>
                <a:latin typeface="Courier New" pitchFamily="34" charset="0"/>
                <a:ea typeface="Courier New" pitchFamily="34" charset="-122"/>
                <a:cs typeface="Courier New" pitchFamily="34" charset="-120"/>
              </a:rPr>
              <a:t>and d ≤ 150m  =&gt;  Flag as Duplicate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3: WORKFLOWS</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Audited Complaint Lifecycle State Machine</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9 / 16</a:t>
            </a:r>
            <a:endParaRPr lang="en-US" sz="900" dirty="0"/>
          </a:p>
        </p:txBody>
      </p:sp>
      <p:sp>
        <p:nvSpPr>
          <p:cNvPr id="8" name="Shape 6"/>
          <p:cNvSpPr/>
          <p:nvPr/>
        </p:nvSpPr>
        <p:spPr>
          <a:xfrm>
            <a:off x="731520" y="1554480"/>
            <a:ext cx="2011680" cy="2560320"/>
          </a:xfrm>
          <a:prstGeom prst="roundRect">
            <a:avLst/>
          </a:prstGeom>
          <a:solidFill>
            <a:srgbClr val="FFFFFF"/>
          </a:solidFill>
          <a:ln w="25400">
            <a:solidFill>
              <a:srgbClr val="2563EB"/>
            </a:solidFill>
            <a:prstDash val="solid"/>
          </a:ln>
        </p:spPr>
      </p:sp>
      <p:sp>
        <p:nvSpPr>
          <p:cNvPr id="9" name="Shape 7"/>
          <p:cNvSpPr/>
          <p:nvPr/>
        </p:nvSpPr>
        <p:spPr>
          <a:xfrm>
            <a:off x="731520" y="1554480"/>
            <a:ext cx="2011680" cy="502920"/>
          </a:xfrm>
          <a:prstGeom prst="roundRect">
            <a:avLst/>
          </a:prstGeom>
          <a:solidFill>
            <a:srgbClr val="2563EB"/>
          </a:solidFill>
          <a:ln/>
        </p:spPr>
      </p:sp>
      <p:sp>
        <p:nvSpPr>
          <p:cNvPr id="10" name="Text 8"/>
          <p:cNvSpPr/>
          <p:nvPr/>
        </p:nvSpPr>
        <p:spPr>
          <a:xfrm>
            <a:off x="822960" y="1554480"/>
            <a:ext cx="182880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 SUBMITTED</a:t>
            </a:r>
            <a:endParaRPr lang="en-US" sz="1000" dirty="0"/>
          </a:p>
        </p:txBody>
      </p:sp>
      <p:sp>
        <p:nvSpPr>
          <p:cNvPr id="11" name="Text 9"/>
          <p:cNvSpPr/>
          <p:nvPr/>
        </p:nvSpPr>
        <p:spPr>
          <a:xfrm>
            <a:off x="868680" y="2148840"/>
            <a:ext cx="1737360" cy="27432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Actor: Citizen</a:t>
            </a:r>
            <a:endParaRPr lang="en-US" sz="1000" dirty="0"/>
          </a:p>
        </p:txBody>
      </p:sp>
      <p:sp>
        <p:nvSpPr>
          <p:cNvPr id="12" name="Text 10"/>
          <p:cNvSpPr/>
          <p:nvPr/>
        </p:nvSpPr>
        <p:spPr>
          <a:xfrm>
            <a:off x="868680" y="2468880"/>
            <a:ext cx="1737360" cy="146304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GPS, Photo, Severity logged. Priority score calculated.</a:t>
            </a:r>
            <a:endParaRPr lang="en-US" sz="950" dirty="0"/>
          </a:p>
        </p:txBody>
      </p:sp>
      <p:sp>
        <p:nvSpPr>
          <p:cNvPr id="13" name="Text 11"/>
          <p:cNvSpPr/>
          <p:nvPr/>
        </p:nvSpPr>
        <p:spPr>
          <a:xfrm>
            <a:off x="2697480" y="2560320"/>
            <a:ext cx="274320" cy="365760"/>
          </a:xfrm>
          <a:prstGeom prst="rect">
            <a:avLst/>
          </a:prstGeom>
          <a:noFill/>
          <a:ln/>
        </p:spPr>
        <p:txBody>
          <a:bodyPr wrap="square" rtlCol="0" anchor="ctr"/>
          <a:lstStyle/>
          <a:p>
            <a:pPr algn="ctr" indent="0" marL="0">
              <a:buNone/>
            </a:pPr>
            <a:r>
              <a:rPr lang="en-US" sz="1600" b="1" dirty="0">
                <a:solidFill>
                  <a:srgbClr val="475569"/>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2907792" y="1554480"/>
            <a:ext cx="2011680" cy="2560320"/>
          </a:xfrm>
          <a:prstGeom prst="roundRect">
            <a:avLst/>
          </a:prstGeom>
          <a:solidFill>
            <a:srgbClr val="FFFFFF"/>
          </a:solidFill>
          <a:ln w="25400">
            <a:solidFill>
              <a:srgbClr val="7C3AED"/>
            </a:solidFill>
            <a:prstDash val="solid"/>
          </a:ln>
        </p:spPr>
      </p:sp>
      <p:sp>
        <p:nvSpPr>
          <p:cNvPr id="15" name="Shape 13"/>
          <p:cNvSpPr/>
          <p:nvPr/>
        </p:nvSpPr>
        <p:spPr>
          <a:xfrm>
            <a:off x="2907792" y="1554480"/>
            <a:ext cx="2011680" cy="502920"/>
          </a:xfrm>
          <a:prstGeom prst="roundRect">
            <a:avLst/>
          </a:prstGeom>
          <a:solidFill>
            <a:srgbClr val="7C3AED"/>
          </a:solidFill>
          <a:ln/>
        </p:spPr>
      </p:sp>
      <p:sp>
        <p:nvSpPr>
          <p:cNvPr id="16" name="Text 14"/>
          <p:cNvSpPr/>
          <p:nvPr/>
        </p:nvSpPr>
        <p:spPr>
          <a:xfrm>
            <a:off x="2999232" y="1554480"/>
            <a:ext cx="182880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 VERIFIED</a:t>
            </a:r>
            <a:endParaRPr lang="en-US" sz="1000" dirty="0"/>
          </a:p>
        </p:txBody>
      </p:sp>
      <p:sp>
        <p:nvSpPr>
          <p:cNvPr id="17" name="Text 15"/>
          <p:cNvSpPr/>
          <p:nvPr/>
        </p:nvSpPr>
        <p:spPr>
          <a:xfrm>
            <a:off x="3044952" y="2148840"/>
            <a:ext cx="1737360" cy="27432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Actor: Admin</a:t>
            </a:r>
            <a:endParaRPr lang="en-US" sz="1000" dirty="0"/>
          </a:p>
        </p:txBody>
      </p:sp>
      <p:sp>
        <p:nvSpPr>
          <p:cNvPr id="18" name="Text 16"/>
          <p:cNvSpPr/>
          <p:nvPr/>
        </p:nvSpPr>
        <p:spPr>
          <a:xfrm>
            <a:off x="3044952" y="2468880"/>
            <a:ext cx="1737360" cy="146304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Admin validates authenticity. Sets dept &amp; SLA deadline.</a:t>
            </a:r>
            <a:endParaRPr lang="en-US" sz="950" dirty="0"/>
          </a:p>
        </p:txBody>
      </p:sp>
      <p:sp>
        <p:nvSpPr>
          <p:cNvPr id="19" name="Text 17"/>
          <p:cNvSpPr/>
          <p:nvPr/>
        </p:nvSpPr>
        <p:spPr>
          <a:xfrm>
            <a:off x="4873752" y="2560320"/>
            <a:ext cx="274320" cy="365760"/>
          </a:xfrm>
          <a:prstGeom prst="rect">
            <a:avLst/>
          </a:prstGeom>
          <a:noFill/>
          <a:ln/>
        </p:spPr>
        <p:txBody>
          <a:bodyPr wrap="square" rtlCol="0" anchor="ctr"/>
          <a:lstStyle/>
          <a:p>
            <a:pPr algn="ctr" indent="0" marL="0">
              <a:buNone/>
            </a:pPr>
            <a:r>
              <a:rPr lang="en-US" sz="1600" b="1" dirty="0">
                <a:solidFill>
                  <a:srgbClr val="475569"/>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5084064" y="1554480"/>
            <a:ext cx="2011680" cy="2560320"/>
          </a:xfrm>
          <a:prstGeom prst="roundRect">
            <a:avLst/>
          </a:prstGeom>
          <a:solidFill>
            <a:srgbClr val="FFFFFF"/>
          </a:solidFill>
          <a:ln w="25400">
            <a:solidFill>
              <a:srgbClr val="D97706"/>
            </a:solidFill>
            <a:prstDash val="solid"/>
          </a:ln>
        </p:spPr>
      </p:sp>
      <p:sp>
        <p:nvSpPr>
          <p:cNvPr id="21" name="Shape 19"/>
          <p:cNvSpPr/>
          <p:nvPr/>
        </p:nvSpPr>
        <p:spPr>
          <a:xfrm>
            <a:off x="5084064" y="1554480"/>
            <a:ext cx="2011680" cy="502920"/>
          </a:xfrm>
          <a:prstGeom prst="roundRect">
            <a:avLst/>
          </a:prstGeom>
          <a:solidFill>
            <a:srgbClr val="D97706"/>
          </a:solidFill>
          <a:ln/>
        </p:spPr>
      </p:sp>
      <p:sp>
        <p:nvSpPr>
          <p:cNvPr id="22" name="Text 20"/>
          <p:cNvSpPr/>
          <p:nvPr/>
        </p:nvSpPr>
        <p:spPr>
          <a:xfrm>
            <a:off x="5175504" y="1554480"/>
            <a:ext cx="182880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 IN_PROGRESS</a:t>
            </a:r>
            <a:endParaRPr lang="en-US" sz="1000" dirty="0"/>
          </a:p>
        </p:txBody>
      </p:sp>
      <p:sp>
        <p:nvSpPr>
          <p:cNvPr id="23" name="Text 21"/>
          <p:cNvSpPr/>
          <p:nvPr/>
        </p:nvSpPr>
        <p:spPr>
          <a:xfrm>
            <a:off x="5221224" y="2148840"/>
            <a:ext cx="1737360" cy="27432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Actor: Field Officer</a:t>
            </a:r>
            <a:endParaRPr lang="en-US" sz="1000" dirty="0"/>
          </a:p>
        </p:txBody>
      </p:sp>
      <p:sp>
        <p:nvSpPr>
          <p:cNvPr id="24" name="Text 22"/>
          <p:cNvSpPr/>
          <p:nvPr/>
        </p:nvSpPr>
        <p:spPr>
          <a:xfrm>
            <a:off x="5221224" y="2468880"/>
            <a:ext cx="1737360" cy="146304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Assigned officer accepts work &amp; mobilizes on-site.</a:t>
            </a:r>
            <a:endParaRPr lang="en-US" sz="950" dirty="0"/>
          </a:p>
        </p:txBody>
      </p:sp>
      <p:sp>
        <p:nvSpPr>
          <p:cNvPr id="25" name="Text 23"/>
          <p:cNvSpPr/>
          <p:nvPr/>
        </p:nvSpPr>
        <p:spPr>
          <a:xfrm>
            <a:off x="7050024" y="2560320"/>
            <a:ext cx="274320" cy="365760"/>
          </a:xfrm>
          <a:prstGeom prst="rect">
            <a:avLst/>
          </a:prstGeom>
          <a:noFill/>
          <a:ln/>
        </p:spPr>
        <p:txBody>
          <a:bodyPr wrap="square" rtlCol="0" anchor="ctr"/>
          <a:lstStyle/>
          <a:p>
            <a:pPr algn="ctr" indent="0" marL="0">
              <a:buNone/>
            </a:pPr>
            <a:r>
              <a:rPr lang="en-US" sz="1600" b="1" dirty="0">
                <a:solidFill>
                  <a:srgbClr val="475569"/>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7260336" y="1554480"/>
            <a:ext cx="2011680" cy="2560320"/>
          </a:xfrm>
          <a:prstGeom prst="roundRect">
            <a:avLst/>
          </a:prstGeom>
          <a:solidFill>
            <a:srgbClr val="FFFFFF"/>
          </a:solidFill>
          <a:ln w="25400">
            <a:solidFill>
              <a:srgbClr val="0D9488"/>
            </a:solidFill>
            <a:prstDash val="solid"/>
          </a:ln>
        </p:spPr>
      </p:sp>
      <p:sp>
        <p:nvSpPr>
          <p:cNvPr id="27" name="Shape 25"/>
          <p:cNvSpPr/>
          <p:nvPr/>
        </p:nvSpPr>
        <p:spPr>
          <a:xfrm>
            <a:off x="7260336" y="1554480"/>
            <a:ext cx="2011680" cy="502920"/>
          </a:xfrm>
          <a:prstGeom prst="roundRect">
            <a:avLst/>
          </a:prstGeom>
          <a:solidFill>
            <a:srgbClr val="0D9488"/>
          </a:solidFill>
          <a:ln/>
        </p:spPr>
      </p:sp>
      <p:sp>
        <p:nvSpPr>
          <p:cNvPr id="28" name="Text 26"/>
          <p:cNvSpPr/>
          <p:nvPr/>
        </p:nvSpPr>
        <p:spPr>
          <a:xfrm>
            <a:off x="7351776" y="1554480"/>
            <a:ext cx="182880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 RESOLVED</a:t>
            </a:r>
            <a:endParaRPr lang="en-US" sz="1000" dirty="0"/>
          </a:p>
        </p:txBody>
      </p:sp>
      <p:sp>
        <p:nvSpPr>
          <p:cNvPr id="29" name="Text 27"/>
          <p:cNvSpPr/>
          <p:nvPr/>
        </p:nvSpPr>
        <p:spPr>
          <a:xfrm>
            <a:off x="7397496" y="2148840"/>
            <a:ext cx="1737360" cy="27432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Actor: Field Officer</a:t>
            </a:r>
            <a:endParaRPr lang="en-US" sz="1000" dirty="0"/>
          </a:p>
        </p:txBody>
      </p:sp>
      <p:sp>
        <p:nvSpPr>
          <p:cNvPr id="30" name="Text 28"/>
          <p:cNvSpPr/>
          <p:nvPr/>
        </p:nvSpPr>
        <p:spPr>
          <a:xfrm>
            <a:off x="7397496" y="2468880"/>
            <a:ext cx="1737360" cy="146304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MANDATORY photo proof &amp; remarks uploaded.</a:t>
            </a:r>
            <a:endParaRPr lang="en-US" sz="950" dirty="0"/>
          </a:p>
        </p:txBody>
      </p:sp>
      <p:sp>
        <p:nvSpPr>
          <p:cNvPr id="31" name="Text 29"/>
          <p:cNvSpPr/>
          <p:nvPr/>
        </p:nvSpPr>
        <p:spPr>
          <a:xfrm>
            <a:off x="9226296" y="2560320"/>
            <a:ext cx="274320" cy="365760"/>
          </a:xfrm>
          <a:prstGeom prst="rect">
            <a:avLst/>
          </a:prstGeom>
          <a:noFill/>
          <a:ln/>
        </p:spPr>
        <p:txBody>
          <a:bodyPr wrap="square" rtlCol="0" anchor="ctr"/>
          <a:lstStyle/>
          <a:p>
            <a:pPr algn="ctr" indent="0" marL="0">
              <a:buNone/>
            </a:pPr>
            <a:r>
              <a:rPr lang="en-US" sz="1600" b="1" dirty="0">
                <a:solidFill>
                  <a:srgbClr val="475569"/>
                </a:solidFill>
                <a:latin typeface="Arial" pitchFamily="34" charset="0"/>
                <a:ea typeface="Arial" pitchFamily="34" charset="-122"/>
                <a:cs typeface="Arial" pitchFamily="34" charset="-120"/>
              </a:rPr>
              <a:t>➔</a:t>
            </a:r>
            <a:endParaRPr lang="en-US" sz="1600" dirty="0"/>
          </a:p>
        </p:txBody>
      </p:sp>
      <p:sp>
        <p:nvSpPr>
          <p:cNvPr id="32" name="Shape 30"/>
          <p:cNvSpPr/>
          <p:nvPr/>
        </p:nvSpPr>
        <p:spPr>
          <a:xfrm>
            <a:off x="9436608" y="1554480"/>
            <a:ext cx="2011680" cy="2560320"/>
          </a:xfrm>
          <a:prstGeom prst="roundRect">
            <a:avLst/>
          </a:prstGeom>
          <a:solidFill>
            <a:srgbClr val="FFFFFF"/>
          </a:solidFill>
          <a:ln w="25400">
            <a:solidFill>
              <a:srgbClr val="059669"/>
            </a:solidFill>
            <a:prstDash val="solid"/>
          </a:ln>
        </p:spPr>
      </p:sp>
      <p:sp>
        <p:nvSpPr>
          <p:cNvPr id="33" name="Shape 31"/>
          <p:cNvSpPr/>
          <p:nvPr/>
        </p:nvSpPr>
        <p:spPr>
          <a:xfrm>
            <a:off x="9436608" y="1554480"/>
            <a:ext cx="2011680" cy="502920"/>
          </a:xfrm>
          <a:prstGeom prst="roundRect">
            <a:avLst/>
          </a:prstGeom>
          <a:solidFill>
            <a:srgbClr val="059669"/>
          </a:solidFill>
          <a:ln/>
        </p:spPr>
      </p:sp>
      <p:sp>
        <p:nvSpPr>
          <p:cNvPr id="34" name="Text 32"/>
          <p:cNvSpPr/>
          <p:nvPr/>
        </p:nvSpPr>
        <p:spPr>
          <a:xfrm>
            <a:off x="9528048" y="1554480"/>
            <a:ext cx="1828800" cy="5029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 CONFIRMED</a:t>
            </a:r>
            <a:endParaRPr lang="en-US" sz="1000" dirty="0"/>
          </a:p>
        </p:txBody>
      </p:sp>
      <p:sp>
        <p:nvSpPr>
          <p:cNvPr id="35" name="Text 33"/>
          <p:cNvSpPr/>
          <p:nvPr/>
        </p:nvSpPr>
        <p:spPr>
          <a:xfrm>
            <a:off x="9573768" y="2148840"/>
            <a:ext cx="1737360" cy="27432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Actor: Citizen</a:t>
            </a:r>
            <a:endParaRPr lang="en-US" sz="1000" dirty="0"/>
          </a:p>
        </p:txBody>
      </p:sp>
      <p:sp>
        <p:nvSpPr>
          <p:cNvPr id="36" name="Text 34"/>
          <p:cNvSpPr/>
          <p:nvPr/>
        </p:nvSpPr>
        <p:spPr>
          <a:xfrm>
            <a:off x="9573768" y="2468880"/>
            <a:ext cx="1737360" cy="1463040"/>
          </a:xfrm>
          <a:prstGeom prst="rect">
            <a:avLst/>
          </a:prstGeom>
          <a:noFill/>
          <a:ln/>
        </p:spPr>
        <p:txBody>
          <a:bodyPr wrap="square" rtlCol="0" anchor="ctr"/>
          <a:lstStyle/>
          <a:p>
            <a:pPr indent="0" marL="0">
              <a:lnSpc>
                <a:spcPts val="1400"/>
              </a:lnSpc>
              <a:buNone/>
            </a:pPr>
            <a:r>
              <a:rPr lang="en-US" sz="950" dirty="0">
                <a:solidFill>
                  <a:srgbClr val="475569"/>
                </a:solidFill>
                <a:latin typeface="Arial" pitchFamily="34" charset="0"/>
                <a:ea typeface="Arial" pitchFamily="34" charset="-122"/>
                <a:cs typeface="Arial" pitchFamily="34" charset="-120"/>
              </a:rPr>
              <a:t>Citizen verifies fix. +15 reputation awarded.</a:t>
            </a:r>
            <a:endParaRPr lang="en-US" sz="950" dirty="0"/>
          </a:p>
        </p:txBody>
      </p:sp>
      <p:sp>
        <p:nvSpPr>
          <p:cNvPr id="37" name="Shape 35"/>
          <p:cNvSpPr/>
          <p:nvPr/>
        </p:nvSpPr>
        <p:spPr>
          <a:xfrm>
            <a:off x="731520" y="4389120"/>
            <a:ext cx="10698480" cy="1737360"/>
          </a:xfrm>
          <a:prstGeom prst="roundRect">
            <a:avLst/>
          </a:prstGeom>
          <a:solidFill>
            <a:srgbClr val="FFFFFF"/>
          </a:solidFill>
          <a:ln w="19050">
            <a:solidFill>
              <a:srgbClr val="E2E8F0"/>
            </a:solidFill>
            <a:prstDash val="solid"/>
          </a:ln>
        </p:spPr>
      </p:sp>
      <p:sp>
        <p:nvSpPr>
          <p:cNvPr id="38" name="Text 36"/>
          <p:cNvSpPr/>
          <p:nvPr/>
        </p:nvSpPr>
        <p:spPr>
          <a:xfrm>
            <a:off x="1005840" y="4526280"/>
            <a:ext cx="10149840" cy="274320"/>
          </a:xfrm>
          <a:prstGeom prst="rect">
            <a:avLst/>
          </a:prstGeom>
          <a:noFill/>
          <a:ln/>
        </p:spPr>
        <p:txBody>
          <a:bodyPr wrap="square" rtlCol="0" anchor="ctr"/>
          <a:lstStyle/>
          <a:p>
            <a:pPr indent="0" marL="0">
              <a:buNone/>
            </a:pPr>
            <a:r>
              <a:rPr lang="en-US" sz="1200" b="1" dirty="0">
                <a:solidFill>
                  <a:srgbClr val="E11D48"/>
                </a:solidFill>
                <a:latin typeface="Arial" pitchFamily="34" charset="0"/>
                <a:ea typeface="Arial" pitchFamily="34" charset="-122"/>
                <a:cs typeface="Arial" pitchFamily="34" charset="-120"/>
              </a:rPr>
              <a:t>Core Accountability Guarantees &amp; Fraud Prevention:</a:t>
            </a:r>
            <a:endParaRPr lang="en-US" sz="1200" dirty="0"/>
          </a:p>
        </p:txBody>
      </p:sp>
      <p:sp>
        <p:nvSpPr>
          <p:cNvPr id="39" name="Text 37"/>
          <p:cNvSpPr/>
          <p:nvPr/>
        </p:nvSpPr>
        <p:spPr>
          <a:xfrm>
            <a:off x="1005840" y="4846320"/>
            <a:ext cx="10149840" cy="274320"/>
          </a:xfrm>
          <a:prstGeom prst="rect">
            <a:avLst/>
          </a:prstGeom>
          <a:noFill/>
          <a:ln/>
        </p:spPr>
        <p:txBody>
          <a:bodyPr wrap="square" rtlCol="0" anchor="ctr"/>
          <a:lstStyle/>
          <a:p>
            <a:pPr indent="0" marL="0">
              <a:buNone/>
            </a:pPr>
            <a:r>
              <a:rPr lang="en-US" sz="1050" dirty="0">
                <a:solidFill>
                  <a:srgbClr val="0F172A"/>
                </a:solidFill>
                <a:latin typeface="Arial" pitchFamily="34" charset="0"/>
                <a:ea typeface="Arial" pitchFamily="34" charset="-122"/>
                <a:cs typeface="Arial" pitchFamily="34" charset="-120"/>
              </a:rPr>
              <a:t>•  No "Ghost" Resolutions: System throws HTTP 400 Bad Request if resolutionProofPhotoUrl or resolutionRemarks is blank.</a:t>
            </a:r>
            <a:endParaRPr lang="en-US" sz="1050" dirty="0"/>
          </a:p>
        </p:txBody>
      </p:sp>
      <p:sp>
        <p:nvSpPr>
          <p:cNvPr id="40" name="Text 38"/>
          <p:cNvSpPr/>
          <p:nvPr/>
        </p:nvSpPr>
        <p:spPr>
          <a:xfrm>
            <a:off x="1005840" y="5138928"/>
            <a:ext cx="10149840" cy="274320"/>
          </a:xfrm>
          <a:prstGeom prst="rect">
            <a:avLst/>
          </a:prstGeom>
          <a:noFill/>
          <a:ln/>
        </p:spPr>
        <p:txBody>
          <a:bodyPr wrap="square" rtlCol="0" anchor="ctr"/>
          <a:lstStyle/>
          <a:p>
            <a:pPr indent="0" marL="0">
              <a:buNone/>
            </a:pPr>
            <a:r>
              <a:rPr lang="en-US" sz="1050" dirty="0">
                <a:solidFill>
                  <a:srgbClr val="0F172A"/>
                </a:solidFill>
                <a:latin typeface="Arial" pitchFamily="34" charset="0"/>
                <a:ea typeface="Arial" pitchFamily="34" charset="-122"/>
                <a:cs typeface="Arial" pitchFamily="34" charset="-120"/>
              </a:rPr>
              <a:t>•  Closed-Loop Citizen Confirmation: Only the citizen who filed the complaint (or Admin override) can confirm satisfaction.</a:t>
            </a:r>
            <a:endParaRPr lang="en-US" sz="1050" dirty="0"/>
          </a:p>
        </p:txBody>
      </p:sp>
      <p:sp>
        <p:nvSpPr>
          <p:cNvPr id="41" name="Text 39"/>
          <p:cNvSpPr/>
          <p:nvPr/>
        </p:nvSpPr>
        <p:spPr>
          <a:xfrm>
            <a:off x="1005840" y="5431536"/>
            <a:ext cx="10149840" cy="274320"/>
          </a:xfrm>
          <a:prstGeom prst="rect">
            <a:avLst/>
          </a:prstGeom>
          <a:noFill/>
          <a:ln/>
        </p:spPr>
        <p:txBody>
          <a:bodyPr wrap="square" rtlCol="0" anchor="ctr"/>
          <a:lstStyle/>
          <a:p>
            <a:pPr indent="0" marL="0">
              <a:buNone/>
            </a:pPr>
            <a:r>
              <a:rPr lang="en-US" sz="1050" dirty="0">
                <a:solidFill>
                  <a:srgbClr val="0F172A"/>
                </a:solidFill>
                <a:latin typeface="Arial" pitchFamily="34" charset="0"/>
                <a:ea typeface="Arial" pitchFamily="34" charset="-122"/>
                <a:cs typeface="Arial" pitchFamily="34" charset="-120"/>
              </a:rPr>
              <a:t>•  Immutable Audit Ledger: Every transition writes a permanent entry to status_history table with timestamp and officer ID.</a:t>
            </a:r>
            <a:endParaRPr lang="en-US" sz="1050" dirty="0"/>
          </a:p>
        </p:txBody>
      </p:sp>
      <p:sp>
        <p:nvSpPr>
          <p:cNvPr id="42" name="Text 40"/>
          <p:cNvSpPr/>
          <p:nvPr/>
        </p:nvSpPr>
        <p:spPr>
          <a:xfrm>
            <a:off x="1005840" y="5724144"/>
            <a:ext cx="10149840" cy="274320"/>
          </a:xfrm>
          <a:prstGeom prst="rect">
            <a:avLst/>
          </a:prstGeom>
          <a:noFill/>
          <a:ln/>
        </p:spPr>
        <p:txBody>
          <a:bodyPr wrap="square" rtlCol="0" anchor="ctr"/>
          <a:lstStyle/>
          <a:p>
            <a:pPr indent="0" marL="0">
              <a:buNone/>
            </a:pPr>
            <a:r>
              <a:rPr lang="en-US" sz="1050" dirty="0">
                <a:solidFill>
                  <a:srgbClr val="0F172A"/>
                </a:solidFill>
                <a:latin typeface="Arial" pitchFamily="34" charset="0"/>
                <a:ea typeface="Arial" pitchFamily="34" charset="-122"/>
                <a:cs typeface="Arial" pitchFamily="34" charset="-120"/>
              </a:rPr>
              <a:t>•  Gamified Citizen Trust: Citizens receive +10 points for valid reports, +15 for confirming resolution, and -20 for abusive spam.</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4: DATA DESIGN</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Relational Database Architecture (10 Normalized 3NF Tables)</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10 / 16</a:t>
            </a:r>
            <a:endParaRPr lang="en-US" sz="900" dirty="0"/>
          </a:p>
        </p:txBody>
      </p:sp>
      <p:sp>
        <p:nvSpPr>
          <p:cNvPr id="8" name="Shape 6"/>
          <p:cNvSpPr/>
          <p:nvPr/>
        </p:nvSpPr>
        <p:spPr>
          <a:xfrm>
            <a:off x="731520" y="1554480"/>
            <a:ext cx="5257800" cy="777240"/>
          </a:xfrm>
          <a:prstGeom prst="roundRect">
            <a:avLst/>
          </a:prstGeom>
          <a:solidFill>
            <a:srgbClr val="FFFFFF"/>
          </a:solidFill>
          <a:ln w="15240">
            <a:solidFill>
              <a:srgbClr val="E2E8F0"/>
            </a:solidFill>
            <a:prstDash val="solid"/>
          </a:ln>
        </p:spPr>
      </p:sp>
      <p:sp>
        <p:nvSpPr>
          <p:cNvPr id="9" name="Text 7"/>
          <p:cNvSpPr/>
          <p:nvPr/>
        </p:nvSpPr>
        <p:spPr>
          <a:xfrm>
            <a:off x="914400" y="164592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1. users</a:t>
            </a:r>
            <a:endParaRPr lang="en-US" sz="1100" dirty="0"/>
          </a:p>
        </p:txBody>
      </p:sp>
      <p:sp>
        <p:nvSpPr>
          <p:cNvPr id="10" name="Text 8"/>
          <p:cNvSpPr/>
          <p:nvPr/>
        </p:nvSpPr>
        <p:spPr>
          <a:xfrm>
            <a:off x="914400" y="190195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Citizens, Employees, Admins with BCrypt hashes &amp; reputation scores</a:t>
            </a:r>
            <a:endParaRPr lang="en-US" sz="950" dirty="0"/>
          </a:p>
        </p:txBody>
      </p:sp>
      <p:sp>
        <p:nvSpPr>
          <p:cNvPr id="11" name="Shape 9"/>
          <p:cNvSpPr/>
          <p:nvPr/>
        </p:nvSpPr>
        <p:spPr>
          <a:xfrm>
            <a:off x="731520" y="2423160"/>
            <a:ext cx="5257800" cy="777240"/>
          </a:xfrm>
          <a:prstGeom prst="roundRect">
            <a:avLst/>
          </a:prstGeom>
          <a:solidFill>
            <a:srgbClr val="FFFFFF"/>
          </a:solidFill>
          <a:ln w="15240">
            <a:solidFill>
              <a:srgbClr val="E2E8F0"/>
            </a:solidFill>
            <a:prstDash val="solid"/>
          </a:ln>
        </p:spPr>
      </p:sp>
      <p:sp>
        <p:nvSpPr>
          <p:cNvPr id="12" name="Text 10"/>
          <p:cNvSpPr/>
          <p:nvPr/>
        </p:nvSpPr>
        <p:spPr>
          <a:xfrm>
            <a:off x="914400" y="251460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2. departments</a:t>
            </a:r>
            <a:endParaRPr lang="en-US" sz="1100" dirty="0"/>
          </a:p>
        </p:txBody>
      </p:sp>
      <p:sp>
        <p:nvSpPr>
          <p:cNvPr id="13" name="Text 11"/>
          <p:cNvSpPr/>
          <p:nvPr/>
        </p:nvSpPr>
        <p:spPr>
          <a:xfrm>
            <a:off x="914400" y="277063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Municipal divisions (Roads, Water Works, Sanitation, Power, Parks)</a:t>
            </a:r>
            <a:endParaRPr lang="en-US" sz="950" dirty="0"/>
          </a:p>
        </p:txBody>
      </p:sp>
      <p:sp>
        <p:nvSpPr>
          <p:cNvPr id="14" name="Shape 12"/>
          <p:cNvSpPr/>
          <p:nvPr/>
        </p:nvSpPr>
        <p:spPr>
          <a:xfrm>
            <a:off x="731520" y="3291840"/>
            <a:ext cx="5257800" cy="777240"/>
          </a:xfrm>
          <a:prstGeom prst="roundRect">
            <a:avLst/>
          </a:prstGeom>
          <a:solidFill>
            <a:srgbClr val="FFFFFF"/>
          </a:solidFill>
          <a:ln w="15240">
            <a:solidFill>
              <a:srgbClr val="E2E8F0"/>
            </a:solidFill>
            <a:prstDash val="solid"/>
          </a:ln>
        </p:spPr>
      </p:sp>
      <p:sp>
        <p:nvSpPr>
          <p:cNvPr id="15" name="Text 13"/>
          <p:cNvSpPr/>
          <p:nvPr/>
        </p:nvSpPr>
        <p:spPr>
          <a:xfrm>
            <a:off x="914400" y="338328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3. complaints</a:t>
            </a:r>
            <a:endParaRPr lang="en-US" sz="1100" dirty="0"/>
          </a:p>
        </p:txBody>
      </p:sp>
      <p:sp>
        <p:nvSpPr>
          <p:cNvPr id="16" name="Text 14"/>
          <p:cNvSpPr/>
          <p:nvPr/>
        </p:nvSpPr>
        <p:spPr>
          <a:xfrm>
            <a:off x="914400" y="363931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Core grievance entity with GPS lat/lon, severity, priority score, &amp; SLA</a:t>
            </a:r>
            <a:endParaRPr lang="en-US" sz="950" dirty="0"/>
          </a:p>
        </p:txBody>
      </p:sp>
      <p:sp>
        <p:nvSpPr>
          <p:cNvPr id="17" name="Shape 15"/>
          <p:cNvSpPr/>
          <p:nvPr/>
        </p:nvSpPr>
        <p:spPr>
          <a:xfrm>
            <a:off x="731520" y="4160520"/>
            <a:ext cx="5257800" cy="777240"/>
          </a:xfrm>
          <a:prstGeom prst="roundRect">
            <a:avLst/>
          </a:prstGeom>
          <a:solidFill>
            <a:srgbClr val="FFFFFF"/>
          </a:solidFill>
          <a:ln w="15240">
            <a:solidFill>
              <a:srgbClr val="E2E8F0"/>
            </a:solidFill>
            <a:prstDash val="solid"/>
          </a:ln>
        </p:spPr>
      </p:sp>
      <p:sp>
        <p:nvSpPr>
          <p:cNvPr id="18" name="Text 16"/>
          <p:cNvSpPr/>
          <p:nvPr/>
        </p:nvSpPr>
        <p:spPr>
          <a:xfrm>
            <a:off x="914400" y="425196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4. complaint_media</a:t>
            </a:r>
            <a:endParaRPr lang="en-US" sz="1100" dirty="0"/>
          </a:p>
        </p:txBody>
      </p:sp>
      <p:sp>
        <p:nvSpPr>
          <p:cNvPr id="19" name="Text 17"/>
          <p:cNvSpPr/>
          <p:nvPr/>
        </p:nvSpPr>
        <p:spPr>
          <a:xfrm>
            <a:off x="914400" y="450799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Original photographic evidence &amp; resolution proof images</a:t>
            </a:r>
            <a:endParaRPr lang="en-US" sz="950" dirty="0"/>
          </a:p>
        </p:txBody>
      </p:sp>
      <p:sp>
        <p:nvSpPr>
          <p:cNvPr id="20" name="Shape 18"/>
          <p:cNvSpPr/>
          <p:nvPr/>
        </p:nvSpPr>
        <p:spPr>
          <a:xfrm>
            <a:off x="731520" y="5029200"/>
            <a:ext cx="5257800" cy="777240"/>
          </a:xfrm>
          <a:prstGeom prst="roundRect">
            <a:avLst/>
          </a:prstGeom>
          <a:solidFill>
            <a:srgbClr val="FFFFFF"/>
          </a:solidFill>
          <a:ln w="15240">
            <a:solidFill>
              <a:srgbClr val="E2E8F0"/>
            </a:solidFill>
            <a:prstDash val="solid"/>
          </a:ln>
        </p:spPr>
      </p:sp>
      <p:sp>
        <p:nvSpPr>
          <p:cNvPr id="21" name="Text 19"/>
          <p:cNvSpPr/>
          <p:nvPr/>
        </p:nvSpPr>
        <p:spPr>
          <a:xfrm>
            <a:off x="914400" y="512064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5. comments</a:t>
            </a:r>
            <a:endParaRPr lang="en-US" sz="1100" dirty="0"/>
          </a:p>
        </p:txBody>
      </p:sp>
      <p:sp>
        <p:nvSpPr>
          <p:cNvPr id="22" name="Text 20"/>
          <p:cNvSpPr/>
          <p:nvPr/>
        </p:nvSpPr>
        <p:spPr>
          <a:xfrm>
            <a:off x="914400" y="537667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Two-way citizen-officer discussion thread per ticket</a:t>
            </a:r>
            <a:endParaRPr lang="en-US" sz="950" dirty="0"/>
          </a:p>
        </p:txBody>
      </p:sp>
      <p:sp>
        <p:nvSpPr>
          <p:cNvPr id="23" name="Shape 21"/>
          <p:cNvSpPr/>
          <p:nvPr/>
        </p:nvSpPr>
        <p:spPr>
          <a:xfrm>
            <a:off x="6172200" y="1554480"/>
            <a:ext cx="5257800" cy="777240"/>
          </a:xfrm>
          <a:prstGeom prst="roundRect">
            <a:avLst/>
          </a:prstGeom>
          <a:solidFill>
            <a:srgbClr val="FFFFFF"/>
          </a:solidFill>
          <a:ln w="15240">
            <a:solidFill>
              <a:srgbClr val="E2E8F0"/>
            </a:solidFill>
            <a:prstDash val="solid"/>
          </a:ln>
        </p:spPr>
      </p:sp>
      <p:sp>
        <p:nvSpPr>
          <p:cNvPr id="24" name="Text 22"/>
          <p:cNvSpPr/>
          <p:nvPr/>
        </p:nvSpPr>
        <p:spPr>
          <a:xfrm>
            <a:off x="6355080" y="164592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6. votes</a:t>
            </a:r>
            <a:endParaRPr lang="en-US" sz="1100" dirty="0"/>
          </a:p>
        </p:txBody>
      </p:sp>
      <p:sp>
        <p:nvSpPr>
          <p:cNvPr id="25" name="Text 23"/>
          <p:cNvSpPr/>
          <p:nvPr/>
        </p:nvSpPr>
        <p:spPr>
          <a:xfrm>
            <a:off x="6355080" y="190195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Unique upvotes preventing double-voting via composite UNIQUE(user, complaint)</a:t>
            </a:r>
            <a:endParaRPr lang="en-US" sz="950" dirty="0"/>
          </a:p>
        </p:txBody>
      </p:sp>
      <p:sp>
        <p:nvSpPr>
          <p:cNvPr id="26" name="Shape 24"/>
          <p:cNvSpPr/>
          <p:nvPr/>
        </p:nvSpPr>
        <p:spPr>
          <a:xfrm>
            <a:off x="6172200" y="2423160"/>
            <a:ext cx="5257800" cy="777240"/>
          </a:xfrm>
          <a:prstGeom prst="roundRect">
            <a:avLst/>
          </a:prstGeom>
          <a:solidFill>
            <a:srgbClr val="FFFFFF"/>
          </a:solidFill>
          <a:ln w="15240">
            <a:solidFill>
              <a:srgbClr val="E2E8F0"/>
            </a:solidFill>
            <a:prstDash val="solid"/>
          </a:ln>
        </p:spPr>
      </p:sp>
      <p:sp>
        <p:nvSpPr>
          <p:cNvPr id="27" name="Text 25"/>
          <p:cNvSpPr/>
          <p:nvPr/>
        </p:nvSpPr>
        <p:spPr>
          <a:xfrm>
            <a:off x="6355080" y="251460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7. assignments</a:t>
            </a:r>
            <a:endParaRPr lang="en-US" sz="1100" dirty="0"/>
          </a:p>
        </p:txBody>
      </p:sp>
      <p:sp>
        <p:nvSpPr>
          <p:cNvPr id="28" name="Text 26"/>
          <p:cNvSpPr/>
          <p:nvPr/>
        </p:nvSpPr>
        <p:spPr>
          <a:xfrm>
            <a:off x="6355080" y="277063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Audit trail of department and officer delegations with due dates</a:t>
            </a:r>
            <a:endParaRPr lang="en-US" sz="950" dirty="0"/>
          </a:p>
        </p:txBody>
      </p:sp>
      <p:sp>
        <p:nvSpPr>
          <p:cNvPr id="29" name="Shape 27"/>
          <p:cNvSpPr/>
          <p:nvPr/>
        </p:nvSpPr>
        <p:spPr>
          <a:xfrm>
            <a:off x="6172200" y="3291840"/>
            <a:ext cx="5257800" cy="777240"/>
          </a:xfrm>
          <a:prstGeom prst="roundRect">
            <a:avLst/>
          </a:prstGeom>
          <a:solidFill>
            <a:srgbClr val="FFFFFF"/>
          </a:solidFill>
          <a:ln w="15240">
            <a:solidFill>
              <a:srgbClr val="E2E8F0"/>
            </a:solidFill>
            <a:prstDash val="solid"/>
          </a:ln>
        </p:spPr>
      </p:sp>
      <p:sp>
        <p:nvSpPr>
          <p:cNvPr id="30" name="Text 28"/>
          <p:cNvSpPr/>
          <p:nvPr/>
        </p:nvSpPr>
        <p:spPr>
          <a:xfrm>
            <a:off x="6355080" y="338328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8. status_history</a:t>
            </a:r>
            <a:endParaRPr lang="en-US" sz="1100" dirty="0"/>
          </a:p>
        </p:txBody>
      </p:sp>
      <p:sp>
        <p:nvSpPr>
          <p:cNvPr id="31" name="Text 29"/>
          <p:cNvSpPr/>
          <p:nvPr/>
        </p:nvSpPr>
        <p:spPr>
          <a:xfrm>
            <a:off x="6355080" y="363931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Immutable chronological state transition ledger with changed_by timestamps</a:t>
            </a:r>
            <a:endParaRPr lang="en-US" sz="950" dirty="0"/>
          </a:p>
        </p:txBody>
      </p:sp>
      <p:sp>
        <p:nvSpPr>
          <p:cNvPr id="32" name="Shape 30"/>
          <p:cNvSpPr/>
          <p:nvPr/>
        </p:nvSpPr>
        <p:spPr>
          <a:xfrm>
            <a:off x="6172200" y="4160520"/>
            <a:ext cx="5257800" cy="777240"/>
          </a:xfrm>
          <a:prstGeom prst="roundRect">
            <a:avLst/>
          </a:prstGeom>
          <a:solidFill>
            <a:srgbClr val="FFFFFF"/>
          </a:solidFill>
          <a:ln w="15240">
            <a:solidFill>
              <a:srgbClr val="E2E8F0"/>
            </a:solidFill>
            <a:prstDash val="solid"/>
          </a:ln>
        </p:spPr>
      </p:sp>
      <p:sp>
        <p:nvSpPr>
          <p:cNvPr id="33" name="Text 31"/>
          <p:cNvSpPr/>
          <p:nvPr/>
        </p:nvSpPr>
        <p:spPr>
          <a:xfrm>
            <a:off x="6355080" y="425196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9. notifications</a:t>
            </a:r>
            <a:endParaRPr lang="en-US" sz="1100" dirty="0"/>
          </a:p>
        </p:txBody>
      </p:sp>
      <p:sp>
        <p:nvSpPr>
          <p:cNvPr id="34" name="Text 32"/>
          <p:cNvSpPr/>
          <p:nvPr/>
        </p:nvSpPr>
        <p:spPr>
          <a:xfrm>
            <a:off x="6355080" y="450799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Real-time alert notifications dispatched on ticket updates</a:t>
            </a:r>
            <a:endParaRPr lang="en-US" sz="950" dirty="0"/>
          </a:p>
        </p:txBody>
      </p:sp>
      <p:sp>
        <p:nvSpPr>
          <p:cNvPr id="35" name="Shape 33"/>
          <p:cNvSpPr/>
          <p:nvPr/>
        </p:nvSpPr>
        <p:spPr>
          <a:xfrm>
            <a:off x="6172200" y="5029200"/>
            <a:ext cx="5257800" cy="777240"/>
          </a:xfrm>
          <a:prstGeom prst="roundRect">
            <a:avLst/>
          </a:prstGeom>
          <a:solidFill>
            <a:srgbClr val="FFFFFF"/>
          </a:solidFill>
          <a:ln w="15240">
            <a:solidFill>
              <a:srgbClr val="E2E8F0"/>
            </a:solidFill>
            <a:prstDash val="solid"/>
          </a:ln>
        </p:spPr>
      </p:sp>
      <p:sp>
        <p:nvSpPr>
          <p:cNvPr id="36" name="Text 34"/>
          <p:cNvSpPr/>
          <p:nvPr/>
        </p:nvSpPr>
        <p:spPr>
          <a:xfrm>
            <a:off x="6355080" y="5120640"/>
            <a:ext cx="4846320" cy="27432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10. reputation_tx</a:t>
            </a:r>
            <a:endParaRPr lang="en-US" sz="1100" dirty="0"/>
          </a:p>
        </p:txBody>
      </p:sp>
      <p:sp>
        <p:nvSpPr>
          <p:cNvPr id="37" name="Text 35"/>
          <p:cNvSpPr/>
          <p:nvPr/>
        </p:nvSpPr>
        <p:spPr>
          <a:xfrm>
            <a:off x="6355080" y="5376672"/>
            <a:ext cx="4846320" cy="384048"/>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Itemized double-entry credit/debit civic points ledger</a:t>
            </a:r>
            <a:endParaRPr lang="en-US" sz="950" dirty="0"/>
          </a:p>
        </p:txBody>
      </p:sp>
      <p:sp>
        <p:nvSpPr>
          <p:cNvPr id="38" name="Shape 36"/>
          <p:cNvSpPr/>
          <p:nvPr/>
        </p:nvSpPr>
        <p:spPr>
          <a:xfrm>
            <a:off x="731520" y="5989320"/>
            <a:ext cx="10698480" cy="320040"/>
          </a:xfrm>
          <a:prstGeom prst="roundRect">
            <a:avLst/>
          </a:prstGeom>
          <a:solidFill>
            <a:srgbClr val="F1F5F9"/>
          </a:solidFill>
          <a:ln w="12700">
            <a:solidFill>
              <a:srgbClr val="E2E8F0"/>
            </a:solidFill>
            <a:prstDash val="solid"/>
          </a:ln>
        </p:spPr>
      </p:sp>
      <p:sp>
        <p:nvSpPr>
          <p:cNvPr id="39" name="Text 37"/>
          <p:cNvSpPr/>
          <p:nvPr/>
        </p:nvSpPr>
        <p:spPr>
          <a:xfrm>
            <a:off x="731520" y="5989320"/>
            <a:ext cx="10698480" cy="320040"/>
          </a:xfrm>
          <a:prstGeom prst="rect">
            <a:avLst/>
          </a:prstGeom>
          <a:noFill/>
          <a:ln/>
        </p:spPr>
        <p:txBody>
          <a:bodyPr wrap="square" rtlCol="0" anchor="ctr"/>
          <a:lstStyle/>
          <a:p>
            <a:pPr algn="ctr" indent="0" marL="0">
              <a:buNone/>
            </a:pPr>
            <a:r>
              <a:rPr lang="en-US" sz="900" b="1" dirty="0">
                <a:solidFill>
                  <a:srgbClr val="475569"/>
                </a:solidFill>
                <a:latin typeface="Arial" pitchFamily="34" charset="0"/>
                <a:ea typeface="Arial" pitchFamily="34" charset="-122"/>
                <a:cs typeface="Arial" pitchFamily="34" charset="-120"/>
              </a:rPr>
              <a:t>Key Schema Strengths: Normalized to 3NF | Composite B-Tree Spatial Indexes | Foreign Key Cascades | ACID Compliance via HikariCP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4: SECURITY &amp; TESTING</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Security Hardening &amp; Automated Test Verification</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11 / 16</a:t>
            </a:r>
            <a:endParaRPr lang="en-US" sz="900" dirty="0"/>
          </a:p>
        </p:txBody>
      </p:sp>
      <p:sp>
        <p:nvSpPr>
          <p:cNvPr id="8" name="Shape 6"/>
          <p:cNvSpPr/>
          <p:nvPr/>
        </p:nvSpPr>
        <p:spPr>
          <a:xfrm>
            <a:off x="731520" y="1554480"/>
            <a:ext cx="5120640" cy="4572000"/>
          </a:xfrm>
          <a:prstGeom prst="roundRect">
            <a:avLst/>
          </a:prstGeom>
          <a:solidFill>
            <a:srgbClr val="FFFFFF"/>
          </a:solidFill>
          <a:ln w="19050">
            <a:solidFill>
              <a:srgbClr val="E2E8F0"/>
            </a:solidFill>
            <a:prstDash val="solid"/>
          </a:ln>
        </p:spPr>
      </p:sp>
      <p:sp>
        <p:nvSpPr>
          <p:cNvPr id="9" name="Text 7"/>
          <p:cNvSpPr/>
          <p:nvPr/>
        </p:nvSpPr>
        <p:spPr>
          <a:xfrm>
            <a:off x="1005840" y="1737360"/>
            <a:ext cx="4572000" cy="365760"/>
          </a:xfrm>
          <a:prstGeom prst="rect">
            <a:avLst/>
          </a:prstGeom>
          <a:noFill/>
          <a:ln/>
        </p:spPr>
        <p:txBody>
          <a:bodyPr wrap="square" rtlCol="0" anchor="ctr"/>
          <a:lstStyle/>
          <a:p>
            <a:pPr indent="0" marL="0">
              <a:buNone/>
            </a:pPr>
            <a:r>
              <a:rPr lang="en-US" sz="1500" b="1" dirty="0">
                <a:solidFill>
                  <a:srgbClr val="E11D48"/>
                </a:solidFill>
                <a:latin typeface="Arial" pitchFamily="34" charset="0"/>
                <a:ea typeface="Arial" pitchFamily="34" charset="-122"/>
                <a:cs typeface="Arial" pitchFamily="34" charset="-120"/>
              </a:rPr>
              <a:t>Multi-Layer Security Architecture</a:t>
            </a:r>
            <a:endParaRPr lang="en-US" sz="1500" dirty="0"/>
          </a:p>
        </p:txBody>
      </p:sp>
      <p:sp>
        <p:nvSpPr>
          <p:cNvPr id="10" name="Text 8"/>
          <p:cNvSpPr/>
          <p:nvPr/>
        </p:nvSpPr>
        <p:spPr>
          <a:xfrm>
            <a:off x="1005840" y="2194560"/>
            <a:ext cx="45720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Stateless JWT Auth (HS256)</a:t>
            </a:r>
            <a:endParaRPr lang="en-US" sz="1100" dirty="0"/>
          </a:p>
        </p:txBody>
      </p:sp>
      <p:sp>
        <p:nvSpPr>
          <p:cNvPr id="11" name="Text 9"/>
          <p:cNvSpPr/>
          <p:nvPr/>
        </p:nvSpPr>
        <p:spPr>
          <a:xfrm>
            <a:off x="1280160" y="2432304"/>
            <a:ext cx="4297680" cy="41148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24-hour expiration, tamper-proof cryptographic signatures with 256-bit secret key.</a:t>
            </a:r>
            <a:endParaRPr lang="en-US" sz="950" dirty="0"/>
          </a:p>
        </p:txBody>
      </p:sp>
      <p:sp>
        <p:nvSpPr>
          <p:cNvPr id="12" name="Text 10"/>
          <p:cNvSpPr/>
          <p:nvPr/>
        </p:nvSpPr>
        <p:spPr>
          <a:xfrm>
            <a:off x="1005840" y="2944368"/>
            <a:ext cx="45720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BCrypt Salted Password Hashing</a:t>
            </a:r>
            <a:endParaRPr lang="en-US" sz="1100" dirty="0"/>
          </a:p>
        </p:txBody>
      </p:sp>
      <p:sp>
        <p:nvSpPr>
          <p:cNvPr id="13" name="Text 11"/>
          <p:cNvSpPr/>
          <p:nvPr/>
        </p:nvSpPr>
        <p:spPr>
          <a:xfrm>
            <a:off x="1280160" y="3182112"/>
            <a:ext cx="4297680" cy="41148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Work factor 10 hashing defends against dictionary and rainbow table attacks.</a:t>
            </a:r>
            <a:endParaRPr lang="en-US" sz="950" dirty="0"/>
          </a:p>
        </p:txBody>
      </p:sp>
      <p:sp>
        <p:nvSpPr>
          <p:cNvPr id="14" name="Text 12"/>
          <p:cNvSpPr/>
          <p:nvPr/>
        </p:nvSpPr>
        <p:spPr>
          <a:xfrm>
            <a:off x="1005840" y="3694176"/>
            <a:ext cx="45720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Method-Level RBAC</a:t>
            </a:r>
            <a:endParaRPr lang="en-US" sz="1100" dirty="0"/>
          </a:p>
        </p:txBody>
      </p:sp>
      <p:sp>
        <p:nvSpPr>
          <p:cNvPr id="15" name="Text 13"/>
          <p:cNvSpPr/>
          <p:nvPr/>
        </p:nvSpPr>
        <p:spPr>
          <a:xfrm>
            <a:off x="1280160" y="3931920"/>
            <a:ext cx="4297680" cy="41148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Spring Security enforces hasRole('ADMIN'), hasRole('EMPLOYEE'), hasRole('CITIZEN').</a:t>
            </a:r>
            <a:endParaRPr lang="en-US" sz="950" dirty="0"/>
          </a:p>
        </p:txBody>
      </p:sp>
      <p:sp>
        <p:nvSpPr>
          <p:cNvPr id="16" name="Text 14"/>
          <p:cNvSpPr/>
          <p:nvPr/>
        </p:nvSpPr>
        <p:spPr>
          <a:xfrm>
            <a:off x="1005840" y="4443984"/>
            <a:ext cx="45720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SQLi &amp; XSS Prevention</a:t>
            </a:r>
            <a:endParaRPr lang="en-US" sz="1100" dirty="0"/>
          </a:p>
        </p:txBody>
      </p:sp>
      <p:sp>
        <p:nvSpPr>
          <p:cNvPr id="17" name="Text 15"/>
          <p:cNvSpPr/>
          <p:nvPr/>
        </p:nvSpPr>
        <p:spPr>
          <a:xfrm>
            <a:off x="1280160" y="4681728"/>
            <a:ext cx="4297680" cy="41148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Parameterized Spring Data JPA queries and React automatic HTML entity escaping.</a:t>
            </a:r>
            <a:endParaRPr lang="en-US" sz="950" dirty="0"/>
          </a:p>
        </p:txBody>
      </p:sp>
      <p:sp>
        <p:nvSpPr>
          <p:cNvPr id="18" name="Text 16"/>
          <p:cNvSpPr/>
          <p:nvPr/>
        </p:nvSpPr>
        <p:spPr>
          <a:xfrm>
            <a:off x="1005840" y="5193792"/>
            <a:ext cx="45720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RFC 7807 Global Exception Handling</a:t>
            </a:r>
            <a:endParaRPr lang="en-US" sz="1100" dirty="0"/>
          </a:p>
        </p:txBody>
      </p:sp>
      <p:sp>
        <p:nvSpPr>
          <p:cNvPr id="19" name="Text 17"/>
          <p:cNvSpPr/>
          <p:nvPr/>
        </p:nvSpPr>
        <p:spPr>
          <a:xfrm>
            <a:off x="1280160" y="5431536"/>
            <a:ext cx="4297680" cy="411480"/>
          </a:xfrm>
          <a:prstGeom prst="rect">
            <a:avLst/>
          </a:prstGeom>
          <a:noFill/>
          <a:ln/>
        </p:spPr>
        <p:txBody>
          <a:bodyPr wrap="square" rtlCol="0" anchor="ctr"/>
          <a:lstStyle/>
          <a:p>
            <a:pPr indent="0" marL="0">
              <a:lnSpc>
                <a:spcPts val="1300"/>
              </a:lnSpc>
              <a:buNone/>
            </a:pPr>
            <a:r>
              <a:rPr lang="en-US" sz="950" dirty="0">
                <a:solidFill>
                  <a:srgbClr val="475569"/>
                </a:solidFill>
                <a:latin typeface="Arial" pitchFamily="34" charset="0"/>
                <a:ea typeface="Arial" pitchFamily="34" charset="-122"/>
                <a:cs typeface="Arial" pitchFamily="34" charset="-120"/>
              </a:rPr>
              <a:t>Centralized @RestControllerAdvice eliminates credential leakage in stack traces.</a:t>
            </a:r>
            <a:endParaRPr lang="en-US" sz="950" dirty="0"/>
          </a:p>
        </p:txBody>
      </p:sp>
      <p:sp>
        <p:nvSpPr>
          <p:cNvPr id="20" name="Shape 18"/>
          <p:cNvSpPr/>
          <p:nvPr/>
        </p:nvSpPr>
        <p:spPr>
          <a:xfrm>
            <a:off x="6309360" y="1554480"/>
            <a:ext cx="5120640" cy="4572000"/>
          </a:xfrm>
          <a:prstGeom prst="roundRect">
            <a:avLst/>
          </a:prstGeom>
          <a:solidFill>
            <a:srgbClr val="FFFFFF"/>
          </a:solidFill>
          <a:ln w="19050">
            <a:solidFill>
              <a:srgbClr val="E2E8F0"/>
            </a:solidFill>
            <a:prstDash val="solid"/>
          </a:ln>
        </p:spPr>
      </p:sp>
      <p:sp>
        <p:nvSpPr>
          <p:cNvPr id="21" name="Text 19"/>
          <p:cNvSpPr/>
          <p:nvPr/>
        </p:nvSpPr>
        <p:spPr>
          <a:xfrm>
            <a:off x="6583680" y="1737360"/>
            <a:ext cx="4572000" cy="365760"/>
          </a:xfrm>
          <a:prstGeom prst="rect">
            <a:avLst/>
          </a:prstGeom>
          <a:noFill/>
          <a:ln/>
        </p:spPr>
        <p:txBody>
          <a:bodyPr wrap="square" rtlCol="0" anchor="ctr"/>
          <a:lstStyle/>
          <a:p>
            <a:pPr indent="0" marL="0">
              <a:buNone/>
            </a:pPr>
            <a:r>
              <a:rPr lang="en-US" sz="1500" b="1" dirty="0">
                <a:solidFill>
                  <a:srgbClr val="059669"/>
                </a:solidFill>
                <a:latin typeface="Arial" pitchFamily="34" charset="0"/>
                <a:ea typeface="Arial" pitchFamily="34" charset="-122"/>
                <a:cs typeface="Arial" pitchFamily="34" charset="-120"/>
              </a:rPr>
              <a:t>57 Automated Tests (100% Pass Rate)</a:t>
            </a:r>
            <a:endParaRPr lang="en-US" sz="1500" dirty="0"/>
          </a:p>
        </p:txBody>
      </p:sp>
      <p:sp>
        <p:nvSpPr>
          <p:cNvPr id="22" name="Shape 20"/>
          <p:cNvSpPr/>
          <p:nvPr/>
        </p:nvSpPr>
        <p:spPr>
          <a:xfrm>
            <a:off x="6583680" y="2194560"/>
            <a:ext cx="4572000" cy="640080"/>
          </a:xfrm>
          <a:prstGeom prst="roundRect">
            <a:avLst/>
          </a:prstGeom>
          <a:solidFill>
            <a:srgbClr val="ECFDF5"/>
          </a:solidFill>
          <a:ln w="19050">
            <a:solidFill>
              <a:srgbClr val="059669"/>
            </a:solidFill>
            <a:prstDash val="solid"/>
          </a:ln>
        </p:spPr>
      </p:sp>
      <p:sp>
        <p:nvSpPr>
          <p:cNvPr id="23" name="Text 21"/>
          <p:cNvSpPr/>
          <p:nvPr/>
        </p:nvSpPr>
        <p:spPr>
          <a:xfrm>
            <a:off x="6583680" y="2194560"/>
            <a:ext cx="4572000" cy="640080"/>
          </a:xfrm>
          <a:prstGeom prst="rect">
            <a:avLst/>
          </a:prstGeom>
          <a:noFill/>
          <a:ln/>
        </p:spPr>
        <p:txBody>
          <a:bodyPr wrap="square" rtlCol="0" anchor="ctr"/>
          <a:lstStyle/>
          <a:p>
            <a:pPr algn="ctr" indent="0" marL="0">
              <a:buNone/>
            </a:pPr>
            <a:r>
              <a:rPr lang="en-US" sz="1000" b="1" dirty="0">
                <a:solidFill>
                  <a:srgbClr val="059669"/>
                </a:solidFill>
                <a:latin typeface="Arial" pitchFamily="34" charset="0"/>
                <a:ea typeface="Arial" pitchFamily="34" charset="-122"/>
                <a:cs typeface="Arial" pitchFamily="34" charset="-120"/>
              </a:rPr>
              <a:t>TEST EXECUTION METRICS: 57 PASSED | 0 FAILED | 0 SKIPPED</a:t>
            </a:r>
            <a:endParaRPr lang="en-US" sz="1000" dirty="0"/>
          </a:p>
          <a:p>
            <a:pPr algn="ctr" indent="0" marL="0">
              <a:buNone/>
            </a:pPr>
            <a:r>
              <a:rPr lang="en-US" sz="1000" b="1" dirty="0">
                <a:solidFill>
                  <a:srgbClr val="059669"/>
                </a:solidFill>
                <a:latin typeface="Arial" pitchFamily="34" charset="0"/>
                <a:ea typeface="Arial" pitchFamily="34" charset="-122"/>
                <a:cs typeface="Arial" pitchFamily="34" charset="-120"/>
              </a:rPr>
              <a:t>Frameworks: JUnit 5, Mockito, Spring Boot Test, MockMvc</a:t>
            </a:r>
            <a:endParaRPr lang="en-US" sz="1000" dirty="0"/>
          </a:p>
        </p:txBody>
      </p:sp>
      <p:sp>
        <p:nvSpPr>
          <p:cNvPr id="24" name="Text 22"/>
          <p:cNvSpPr/>
          <p:nvPr/>
        </p:nvSpPr>
        <p:spPr>
          <a:xfrm>
            <a:off x="6583680" y="2971800"/>
            <a:ext cx="4572000" cy="274320"/>
          </a:xfrm>
          <a:prstGeom prst="rect">
            <a:avLst/>
          </a:prstGeom>
          <a:noFill/>
          <a:ln/>
        </p:spPr>
        <p:txBody>
          <a:bodyPr wrap="square" rtlCol="0" anchor="ctr"/>
          <a:lstStyle/>
          <a:p>
            <a:pPr indent="0" marL="0">
              <a:buNone/>
            </a:pPr>
            <a:r>
              <a:rPr lang="en-US" sz="1050" b="1" dirty="0">
                <a:solidFill>
                  <a:srgbClr val="2563EB"/>
                </a:solidFill>
                <a:latin typeface="Arial" pitchFamily="34" charset="0"/>
                <a:ea typeface="Arial" pitchFamily="34" charset="-122"/>
                <a:cs typeface="Arial" pitchFamily="34" charset="-120"/>
              </a:rPr>
              <a:t>✓  DuplicateDetectionServiceTest</a:t>
            </a:r>
            <a:endParaRPr lang="en-US" sz="1050" dirty="0"/>
          </a:p>
        </p:txBody>
      </p:sp>
      <p:sp>
        <p:nvSpPr>
          <p:cNvPr id="25" name="Text 23"/>
          <p:cNvSpPr/>
          <p:nvPr/>
        </p:nvSpPr>
        <p:spPr>
          <a:xfrm>
            <a:off x="6858000" y="3200400"/>
            <a:ext cx="4297680" cy="41148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Verifies Haversine accuracy, edge cases at 39m/41m/150m, and Jaccard token set thresholds.</a:t>
            </a:r>
            <a:endParaRPr lang="en-US" sz="950" dirty="0"/>
          </a:p>
        </p:txBody>
      </p:sp>
      <p:sp>
        <p:nvSpPr>
          <p:cNvPr id="26" name="Text 24"/>
          <p:cNvSpPr/>
          <p:nvPr/>
        </p:nvSpPr>
        <p:spPr>
          <a:xfrm>
            <a:off x="6583680" y="3721608"/>
            <a:ext cx="4572000" cy="274320"/>
          </a:xfrm>
          <a:prstGeom prst="rect">
            <a:avLst/>
          </a:prstGeom>
          <a:noFill/>
          <a:ln/>
        </p:spPr>
        <p:txBody>
          <a:bodyPr wrap="square" rtlCol="0" anchor="ctr"/>
          <a:lstStyle/>
          <a:p>
            <a:pPr indent="0" marL="0">
              <a:buNone/>
            </a:pPr>
            <a:r>
              <a:rPr lang="en-US" sz="1050" b="1" dirty="0">
                <a:solidFill>
                  <a:srgbClr val="2563EB"/>
                </a:solidFill>
                <a:latin typeface="Arial" pitchFamily="34" charset="0"/>
                <a:ea typeface="Arial" pitchFamily="34" charset="-122"/>
                <a:cs typeface="Arial" pitchFamily="34" charset="-120"/>
              </a:rPr>
              <a:t>✓  SmartPriorityServiceTest</a:t>
            </a:r>
            <a:endParaRPr lang="en-US" sz="1050" dirty="0"/>
          </a:p>
        </p:txBody>
      </p:sp>
      <p:sp>
        <p:nvSpPr>
          <p:cNvPr id="27" name="Text 25"/>
          <p:cNvSpPr/>
          <p:nvPr/>
        </p:nvSpPr>
        <p:spPr>
          <a:xfrm>
            <a:off x="6858000" y="3950208"/>
            <a:ext cx="4297680" cy="41148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Asserts priority formulas, keyword bonuses, aging calculations, and SLA tier mappings.</a:t>
            </a:r>
            <a:endParaRPr lang="en-US" sz="950" dirty="0"/>
          </a:p>
        </p:txBody>
      </p:sp>
      <p:sp>
        <p:nvSpPr>
          <p:cNvPr id="28" name="Text 26"/>
          <p:cNvSpPr/>
          <p:nvPr/>
        </p:nvSpPr>
        <p:spPr>
          <a:xfrm>
            <a:off x="6583680" y="4471416"/>
            <a:ext cx="4572000" cy="274320"/>
          </a:xfrm>
          <a:prstGeom prst="rect">
            <a:avLst/>
          </a:prstGeom>
          <a:noFill/>
          <a:ln/>
        </p:spPr>
        <p:txBody>
          <a:bodyPr wrap="square" rtlCol="0" anchor="ctr"/>
          <a:lstStyle/>
          <a:p>
            <a:pPr indent="0" marL="0">
              <a:buNone/>
            </a:pPr>
            <a:r>
              <a:rPr lang="en-US" sz="1050" b="1" dirty="0">
                <a:solidFill>
                  <a:srgbClr val="2563EB"/>
                </a:solidFill>
                <a:latin typeface="Arial" pitchFamily="34" charset="0"/>
                <a:ea typeface="Arial" pitchFamily="34" charset="-122"/>
                <a:cs typeface="Arial" pitchFamily="34" charset="-120"/>
              </a:rPr>
              <a:t>✓  ComplaintControllerSecurityTest</a:t>
            </a:r>
            <a:endParaRPr lang="en-US" sz="1050" dirty="0"/>
          </a:p>
        </p:txBody>
      </p:sp>
      <p:sp>
        <p:nvSpPr>
          <p:cNvPr id="29" name="Text 27"/>
          <p:cNvSpPr/>
          <p:nvPr/>
        </p:nvSpPr>
        <p:spPr>
          <a:xfrm>
            <a:off x="6858000" y="4700016"/>
            <a:ext cx="4297680" cy="41148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Validates 401 Unauthorized on missing JWT, 403 Forbidden on role mismatch.</a:t>
            </a:r>
            <a:endParaRPr lang="en-US" sz="950" dirty="0"/>
          </a:p>
        </p:txBody>
      </p:sp>
      <p:sp>
        <p:nvSpPr>
          <p:cNvPr id="30" name="Text 28"/>
          <p:cNvSpPr/>
          <p:nvPr/>
        </p:nvSpPr>
        <p:spPr>
          <a:xfrm>
            <a:off x="6583680" y="5221224"/>
            <a:ext cx="4572000" cy="274320"/>
          </a:xfrm>
          <a:prstGeom prst="rect">
            <a:avLst/>
          </a:prstGeom>
          <a:noFill/>
          <a:ln/>
        </p:spPr>
        <p:txBody>
          <a:bodyPr wrap="square" rtlCol="0" anchor="ctr"/>
          <a:lstStyle/>
          <a:p>
            <a:pPr indent="0" marL="0">
              <a:buNone/>
            </a:pPr>
            <a:r>
              <a:rPr lang="en-US" sz="1050" b="1" dirty="0">
                <a:solidFill>
                  <a:srgbClr val="2563EB"/>
                </a:solidFill>
                <a:latin typeface="Arial" pitchFamily="34" charset="0"/>
                <a:ea typeface="Arial" pitchFamily="34" charset="-122"/>
                <a:cs typeface="Arial" pitchFamily="34" charset="-120"/>
              </a:rPr>
              <a:t>✓  ResolutionWorkflowIntegrationTest</a:t>
            </a:r>
            <a:endParaRPr lang="en-US" sz="1050" dirty="0"/>
          </a:p>
        </p:txBody>
      </p:sp>
      <p:sp>
        <p:nvSpPr>
          <p:cNvPr id="31" name="Text 29"/>
          <p:cNvSpPr/>
          <p:nvPr/>
        </p:nvSpPr>
        <p:spPr>
          <a:xfrm>
            <a:off x="6858000" y="5449824"/>
            <a:ext cx="4297680" cy="411480"/>
          </a:xfrm>
          <a:prstGeom prst="rect">
            <a:avLst/>
          </a:prstGeom>
          <a:noFill/>
          <a:ln/>
        </p:spPr>
        <p:txBody>
          <a:bodyPr wrap="square" rtlCol="0" anchor="ctr"/>
          <a:lstStyle/>
          <a:p>
            <a:pPr indent="0" marL="0">
              <a:lnSpc>
                <a:spcPts val="1300"/>
              </a:lnSpc>
              <a:buNone/>
            </a:pPr>
            <a:r>
              <a:rPr lang="en-US" sz="950" dirty="0">
                <a:solidFill>
                  <a:srgbClr val="0F172A"/>
                </a:solidFill>
                <a:latin typeface="Arial" pitchFamily="34" charset="0"/>
                <a:ea typeface="Arial" pitchFamily="34" charset="-122"/>
                <a:cs typeface="Arial" pitchFamily="34" charset="-120"/>
              </a:rPr>
              <a:t>Verifies resolution rejection when photo is absent and reputation credit on confirmation.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4: DEMONSTRATION</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User Interface &amp; Frontend Interactive Workflows</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12 / 16</a:t>
            </a:r>
            <a:endParaRPr lang="en-US" sz="900" dirty="0"/>
          </a:p>
        </p:txBody>
      </p:sp>
      <p:sp>
        <p:nvSpPr>
          <p:cNvPr id="8" name="Shape 6"/>
          <p:cNvSpPr/>
          <p:nvPr/>
        </p:nvSpPr>
        <p:spPr>
          <a:xfrm>
            <a:off x="731520" y="1554480"/>
            <a:ext cx="3383280" cy="4389120"/>
          </a:xfrm>
          <a:prstGeom prst="roundRect">
            <a:avLst/>
          </a:prstGeom>
          <a:solidFill>
            <a:srgbClr val="FFFFFF"/>
          </a:solidFill>
          <a:ln w="19050">
            <a:solidFill>
              <a:srgbClr val="E2E8F0"/>
            </a:solidFill>
            <a:prstDash val="solid"/>
          </a:ln>
        </p:spPr>
      </p:sp>
      <p:sp>
        <p:nvSpPr>
          <p:cNvPr id="9" name="Shape 7"/>
          <p:cNvSpPr/>
          <p:nvPr/>
        </p:nvSpPr>
        <p:spPr>
          <a:xfrm>
            <a:off x="731520" y="1554480"/>
            <a:ext cx="3383280" cy="777240"/>
          </a:xfrm>
          <a:prstGeom prst="roundRect">
            <a:avLst/>
          </a:prstGeom>
          <a:solidFill>
            <a:srgbClr val="2563EB"/>
          </a:solidFill>
          <a:ln/>
        </p:spPr>
      </p:sp>
      <p:sp>
        <p:nvSpPr>
          <p:cNvPr id="10" name="Text 8"/>
          <p:cNvSpPr/>
          <p:nvPr/>
        </p:nvSpPr>
        <p:spPr>
          <a:xfrm>
            <a:off x="914400" y="1627632"/>
            <a:ext cx="301752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Citizen Portal &amp; Map</a:t>
            </a:r>
            <a:endParaRPr lang="en-US" sz="1300" dirty="0"/>
          </a:p>
        </p:txBody>
      </p:sp>
      <p:sp>
        <p:nvSpPr>
          <p:cNvPr id="11" name="Text 9"/>
          <p:cNvSpPr/>
          <p:nvPr/>
        </p:nvSpPr>
        <p:spPr>
          <a:xfrm>
            <a:off x="914400" y="1965960"/>
            <a:ext cx="3017520" cy="228600"/>
          </a:xfrm>
          <a:prstGeom prst="rect">
            <a:avLst/>
          </a:prstGeom>
          <a:noFill/>
          <a:ln/>
        </p:spPr>
        <p:txBody>
          <a:bodyPr wrap="square" rtlCol="0" anchor="ctr"/>
          <a:lstStyle/>
          <a:p>
            <a:pPr algn="ctr" indent="0" marL="0">
              <a:buNone/>
            </a:pPr>
            <a:r>
              <a:rPr lang="en-US" sz="950" dirty="0">
                <a:solidFill>
                  <a:srgbClr val="E2E8F0"/>
                </a:solidFill>
                <a:latin typeface="Arial" pitchFamily="34" charset="0"/>
                <a:ea typeface="Arial" pitchFamily="34" charset="-122"/>
                <a:cs typeface="Arial" pitchFamily="34" charset="-120"/>
              </a:rPr>
              <a:t>Public Web Application</a:t>
            </a:r>
            <a:endParaRPr lang="en-US" sz="950" dirty="0"/>
          </a:p>
        </p:txBody>
      </p:sp>
      <p:sp>
        <p:nvSpPr>
          <p:cNvPr id="12" name="Text 10"/>
          <p:cNvSpPr/>
          <p:nvPr/>
        </p:nvSpPr>
        <p:spPr>
          <a:xfrm>
            <a:off x="1005840" y="2514600"/>
            <a:ext cx="2834640" cy="3200400"/>
          </a:xfrm>
          <a:prstGeom prst="rect">
            <a:avLst/>
          </a:prstGeom>
          <a:noFill/>
          <a:ln/>
        </p:spPr>
        <p:txBody>
          <a:bodyPr wrap="square" rtlCol="0" anchor="ctr"/>
          <a:lstStyle/>
          <a:p>
            <a:pPr indent="0" marL="0">
              <a:lnSpc>
                <a:spcPts val="1700"/>
              </a:lnSpc>
              <a:buNone/>
            </a:pPr>
            <a:r>
              <a:rPr lang="en-US" sz="1100" dirty="0">
                <a:solidFill>
                  <a:srgbClr val="0F172A"/>
                </a:solidFill>
                <a:latin typeface="Arial" pitchFamily="34" charset="0"/>
                <a:ea typeface="Arial" pitchFamily="34" charset="-122"/>
                <a:cs typeface="Arial" pitchFamily="34" charset="-120"/>
              </a:rPr>
              <a:t>•  Interactive OpenStreetMap pinning using Leaflet</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Live duplicate alert modal as user enters location</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Direct photo evidence upload with file validation</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Feed of neighborhood issues with upvote counters</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Real-time ticket tracking timeline with status badges</a:t>
            </a:r>
            <a:endParaRPr lang="en-US" sz="1100" dirty="0"/>
          </a:p>
        </p:txBody>
      </p:sp>
      <p:sp>
        <p:nvSpPr>
          <p:cNvPr id="13" name="Shape 11"/>
          <p:cNvSpPr/>
          <p:nvPr/>
        </p:nvSpPr>
        <p:spPr>
          <a:xfrm>
            <a:off x="4389120" y="1554480"/>
            <a:ext cx="3383280" cy="4389120"/>
          </a:xfrm>
          <a:prstGeom prst="roundRect">
            <a:avLst/>
          </a:prstGeom>
          <a:solidFill>
            <a:srgbClr val="FFFFFF"/>
          </a:solidFill>
          <a:ln w="19050">
            <a:solidFill>
              <a:srgbClr val="E2E8F0"/>
            </a:solidFill>
            <a:prstDash val="solid"/>
          </a:ln>
        </p:spPr>
      </p:sp>
      <p:sp>
        <p:nvSpPr>
          <p:cNvPr id="14" name="Shape 12"/>
          <p:cNvSpPr/>
          <p:nvPr/>
        </p:nvSpPr>
        <p:spPr>
          <a:xfrm>
            <a:off x="4389120" y="1554480"/>
            <a:ext cx="3383280" cy="777240"/>
          </a:xfrm>
          <a:prstGeom prst="roundRect">
            <a:avLst/>
          </a:prstGeom>
          <a:solidFill>
            <a:srgbClr val="0D9488"/>
          </a:solidFill>
          <a:ln/>
        </p:spPr>
      </p:sp>
      <p:sp>
        <p:nvSpPr>
          <p:cNvPr id="15" name="Text 13"/>
          <p:cNvSpPr/>
          <p:nvPr/>
        </p:nvSpPr>
        <p:spPr>
          <a:xfrm>
            <a:off x="4572000" y="1627632"/>
            <a:ext cx="301752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Field Officer Mobile View</a:t>
            </a:r>
            <a:endParaRPr lang="en-US" sz="1300" dirty="0"/>
          </a:p>
        </p:txBody>
      </p:sp>
      <p:sp>
        <p:nvSpPr>
          <p:cNvPr id="16" name="Text 14"/>
          <p:cNvSpPr/>
          <p:nvPr/>
        </p:nvSpPr>
        <p:spPr>
          <a:xfrm>
            <a:off x="4572000" y="1965960"/>
            <a:ext cx="3017520" cy="228600"/>
          </a:xfrm>
          <a:prstGeom prst="rect">
            <a:avLst/>
          </a:prstGeom>
          <a:noFill/>
          <a:ln/>
        </p:spPr>
        <p:txBody>
          <a:bodyPr wrap="square" rtlCol="0" anchor="ctr"/>
          <a:lstStyle/>
          <a:p>
            <a:pPr algn="ctr" indent="0" marL="0">
              <a:buNone/>
            </a:pPr>
            <a:r>
              <a:rPr lang="en-US" sz="950" dirty="0">
                <a:solidFill>
                  <a:srgbClr val="E2E8F0"/>
                </a:solidFill>
                <a:latin typeface="Arial" pitchFamily="34" charset="0"/>
                <a:ea typeface="Arial" pitchFamily="34" charset="-122"/>
                <a:cs typeface="Arial" pitchFamily="34" charset="-120"/>
              </a:rPr>
              <a:t>Municipal Employee App</a:t>
            </a:r>
            <a:endParaRPr lang="en-US" sz="950" dirty="0"/>
          </a:p>
        </p:txBody>
      </p:sp>
      <p:sp>
        <p:nvSpPr>
          <p:cNvPr id="17" name="Text 15"/>
          <p:cNvSpPr/>
          <p:nvPr/>
        </p:nvSpPr>
        <p:spPr>
          <a:xfrm>
            <a:off x="4663440" y="2514600"/>
            <a:ext cx="2834640" cy="3200400"/>
          </a:xfrm>
          <a:prstGeom prst="rect">
            <a:avLst/>
          </a:prstGeom>
          <a:noFill/>
          <a:ln/>
        </p:spPr>
        <p:txBody>
          <a:bodyPr wrap="square" rtlCol="0" anchor="ctr"/>
          <a:lstStyle/>
          <a:p>
            <a:pPr indent="0" marL="0">
              <a:lnSpc>
                <a:spcPts val="1700"/>
              </a:lnSpc>
              <a:buNone/>
            </a:pPr>
            <a:r>
              <a:rPr lang="en-US" sz="1100" dirty="0">
                <a:solidFill>
                  <a:srgbClr val="0F172A"/>
                </a:solidFill>
                <a:latin typeface="Arial" pitchFamily="34" charset="0"/>
                <a:ea typeface="Arial" pitchFamily="34" charset="-122"/>
                <a:cs typeface="Arial" pitchFamily="34" charset="-120"/>
              </a:rPr>
              <a:t>•  Dedicated task queue filtered by assigned department</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Turn-by-turn coordinate view for site navigation</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One-click transition from ASSIGNED to IN_PROGRESS</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Camera capture integration for resolution proof</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Formal completion notes logging</a:t>
            </a:r>
            <a:endParaRPr lang="en-US" sz="1100" dirty="0"/>
          </a:p>
        </p:txBody>
      </p:sp>
      <p:sp>
        <p:nvSpPr>
          <p:cNvPr id="18" name="Shape 16"/>
          <p:cNvSpPr/>
          <p:nvPr/>
        </p:nvSpPr>
        <p:spPr>
          <a:xfrm>
            <a:off x="8046720" y="1554480"/>
            <a:ext cx="3383280" cy="4389120"/>
          </a:xfrm>
          <a:prstGeom prst="roundRect">
            <a:avLst/>
          </a:prstGeom>
          <a:solidFill>
            <a:srgbClr val="FFFFFF"/>
          </a:solidFill>
          <a:ln w="19050">
            <a:solidFill>
              <a:srgbClr val="E2E8F0"/>
            </a:solidFill>
            <a:prstDash val="solid"/>
          </a:ln>
        </p:spPr>
      </p:sp>
      <p:sp>
        <p:nvSpPr>
          <p:cNvPr id="19" name="Shape 17"/>
          <p:cNvSpPr/>
          <p:nvPr/>
        </p:nvSpPr>
        <p:spPr>
          <a:xfrm>
            <a:off x="8046720" y="1554480"/>
            <a:ext cx="3383280" cy="777240"/>
          </a:xfrm>
          <a:prstGeom prst="roundRect">
            <a:avLst/>
          </a:prstGeom>
          <a:solidFill>
            <a:srgbClr val="7C3AED"/>
          </a:solidFill>
          <a:ln/>
        </p:spPr>
      </p:sp>
      <p:sp>
        <p:nvSpPr>
          <p:cNvPr id="20" name="Text 18"/>
          <p:cNvSpPr/>
          <p:nvPr/>
        </p:nvSpPr>
        <p:spPr>
          <a:xfrm>
            <a:off x="8229600" y="1627632"/>
            <a:ext cx="3017520"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Admin Command Center</a:t>
            </a:r>
            <a:endParaRPr lang="en-US" sz="1300" dirty="0"/>
          </a:p>
        </p:txBody>
      </p:sp>
      <p:sp>
        <p:nvSpPr>
          <p:cNvPr id="21" name="Text 19"/>
          <p:cNvSpPr/>
          <p:nvPr/>
        </p:nvSpPr>
        <p:spPr>
          <a:xfrm>
            <a:off x="8229600" y="1965960"/>
            <a:ext cx="3017520" cy="228600"/>
          </a:xfrm>
          <a:prstGeom prst="rect">
            <a:avLst/>
          </a:prstGeom>
          <a:noFill/>
          <a:ln/>
        </p:spPr>
        <p:txBody>
          <a:bodyPr wrap="square" rtlCol="0" anchor="ctr"/>
          <a:lstStyle/>
          <a:p>
            <a:pPr algn="ctr" indent="0" marL="0">
              <a:buNone/>
            </a:pPr>
            <a:r>
              <a:rPr lang="en-US" sz="950" dirty="0">
                <a:solidFill>
                  <a:srgbClr val="E2E8F0"/>
                </a:solidFill>
                <a:latin typeface="Arial" pitchFamily="34" charset="0"/>
                <a:ea typeface="Arial" pitchFamily="34" charset="-122"/>
                <a:cs typeface="Arial" pitchFamily="34" charset="-120"/>
              </a:rPr>
              <a:t>Executive Oversight</a:t>
            </a:r>
            <a:endParaRPr lang="en-US" sz="950" dirty="0"/>
          </a:p>
        </p:txBody>
      </p:sp>
      <p:sp>
        <p:nvSpPr>
          <p:cNvPr id="22" name="Text 20"/>
          <p:cNvSpPr/>
          <p:nvPr/>
        </p:nvSpPr>
        <p:spPr>
          <a:xfrm>
            <a:off x="8321040" y="2514600"/>
            <a:ext cx="2834640" cy="3200400"/>
          </a:xfrm>
          <a:prstGeom prst="rect">
            <a:avLst/>
          </a:prstGeom>
          <a:noFill/>
          <a:ln/>
        </p:spPr>
        <p:txBody>
          <a:bodyPr wrap="square" rtlCol="0" anchor="ctr"/>
          <a:lstStyle/>
          <a:p>
            <a:pPr indent="0" marL="0">
              <a:lnSpc>
                <a:spcPts val="1700"/>
              </a:lnSpc>
              <a:buNone/>
            </a:pPr>
            <a:r>
              <a:rPr lang="en-US" sz="1100" dirty="0">
                <a:solidFill>
                  <a:srgbClr val="0F172A"/>
                </a:solidFill>
                <a:latin typeface="Arial" pitchFamily="34" charset="0"/>
                <a:ea typeface="Arial" pitchFamily="34" charset="-122"/>
                <a:cs typeface="Arial" pitchFamily="34" charset="-120"/>
              </a:rPr>
              <a:t>•  Municipal dashboard with live KPI counters</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Category breakdown charts (Roads, Water, etc.)</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SLA breach escalation &amp; overdue ticket alerts</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One-click department &amp; officer assignment</a:t>
            </a:r>
            <a:endParaRPr lang="en-US" sz="1100" dirty="0"/>
          </a:p>
          <a:p>
            <a:pPr indent="0" marL="0">
              <a:lnSpc>
                <a:spcPts val="1700"/>
              </a:lnSpc>
              <a:buNone/>
            </a:pPr>
            <a:endParaRPr lang="en-US" sz="1100" dirty="0"/>
          </a:p>
          <a:p>
            <a:pPr indent="0" marL="0">
              <a:lnSpc>
                <a:spcPts val="1700"/>
              </a:lnSpc>
              <a:buNone/>
            </a:pPr>
            <a:r>
              <a:rPr lang="en-US" sz="1100" dirty="0">
                <a:solidFill>
                  <a:srgbClr val="0F172A"/>
                </a:solidFill>
                <a:latin typeface="Arial" pitchFamily="34" charset="0"/>
                <a:ea typeface="Arial" pitchFamily="34" charset="-122"/>
                <a:cs typeface="Arial" pitchFamily="34" charset="-120"/>
              </a:rPr>
              <a:t>•  Spam rejection &amp; citizen reputation adjustment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3: FEASIBILITY</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Project Feasibility &amp; Municipal Socio-Economic Impact</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13 / 16</a:t>
            </a:r>
            <a:endParaRPr lang="en-US" sz="900" dirty="0"/>
          </a:p>
        </p:txBody>
      </p:sp>
      <p:sp>
        <p:nvSpPr>
          <p:cNvPr id="8" name="Shape 6"/>
          <p:cNvSpPr/>
          <p:nvPr/>
        </p:nvSpPr>
        <p:spPr>
          <a:xfrm>
            <a:off x="731520" y="1554480"/>
            <a:ext cx="3383280" cy="4389120"/>
          </a:xfrm>
          <a:prstGeom prst="roundRect">
            <a:avLst/>
          </a:prstGeom>
          <a:solidFill>
            <a:srgbClr val="FFFFFF"/>
          </a:solidFill>
          <a:ln w="19050">
            <a:solidFill>
              <a:srgbClr val="E2E8F0"/>
            </a:solidFill>
            <a:prstDash val="solid"/>
          </a:ln>
        </p:spPr>
      </p:sp>
      <p:sp>
        <p:nvSpPr>
          <p:cNvPr id="9" name="Shape 7"/>
          <p:cNvSpPr/>
          <p:nvPr/>
        </p:nvSpPr>
        <p:spPr>
          <a:xfrm>
            <a:off x="731520" y="1554480"/>
            <a:ext cx="3383280" cy="594360"/>
          </a:xfrm>
          <a:prstGeom prst="roundRect">
            <a:avLst/>
          </a:prstGeom>
          <a:solidFill>
            <a:srgbClr val="2563EB"/>
          </a:solidFill>
          <a:ln/>
        </p:spPr>
      </p:sp>
      <p:sp>
        <p:nvSpPr>
          <p:cNvPr id="10" name="Text 8"/>
          <p:cNvSpPr/>
          <p:nvPr/>
        </p:nvSpPr>
        <p:spPr>
          <a:xfrm>
            <a:off x="914400" y="1554480"/>
            <a:ext cx="3017520" cy="5943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Technical Feasibility</a:t>
            </a:r>
            <a:endParaRPr lang="en-US" sz="1300" dirty="0"/>
          </a:p>
        </p:txBody>
      </p:sp>
      <p:sp>
        <p:nvSpPr>
          <p:cNvPr id="11" name="Text 9"/>
          <p:cNvSpPr/>
          <p:nvPr/>
        </p:nvSpPr>
        <p:spPr>
          <a:xfrm>
            <a:off x="1005840" y="2331720"/>
            <a:ext cx="2834640" cy="3383280"/>
          </a:xfrm>
          <a:prstGeom prst="rect">
            <a:avLst/>
          </a:prstGeom>
          <a:noFill/>
          <a:ln/>
        </p:spPr>
        <p:txBody>
          <a:bodyPr wrap="square" rtlCol="0" anchor="ctr"/>
          <a:lstStyle/>
          <a:p>
            <a:pPr indent="0" marL="0">
              <a:lnSpc>
                <a:spcPts val="1800"/>
              </a:lnSpc>
              <a:buNone/>
            </a:pPr>
            <a:r>
              <a:rPr lang="en-US" sz="1100" dirty="0">
                <a:solidFill>
                  <a:srgbClr val="0F172A"/>
                </a:solidFill>
                <a:latin typeface="Arial" pitchFamily="34" charset="0"/>
                <a:ea typeface="Arial" pitchFamily="34" charset="-122"/>
                <a:cs typeface="Arial" pitchFamily="34" charset="-120"/>
              </a:rPr>
              <a:t>•  Built on battle-tested enterprise technologies: Java 17/21, Spring Boot 3, MySQL 8.0, and React 18.</a:t>
            </a:r>
            <a:endParaRPr lang="en-US" sz="1100" dirty="0"/>
          </a:p>
          <a:p>
            <a:pPr indent="0" marL="0">
              <a:lnSpc>
                <a:spcPts val="1800"/>
              </a:lnSpc>
              <a:buNone/>
            </a:pPr>
            <a:endParaRPr lang="en-US" sz="1100" dirty="0"/>
          </a:p>
          <a:p>
            <a:pPr indent="0" marL="0">
              <a:lnSpc>
                <a:spcPts val="1800"/>
              </a:lnSpc>
              <a:buNone/>
            </a:pPr>
            <a:r>
              <a:rPr lang="en-US" sz="1100" dirty="0">
                <a:solidFill>
                  <a:srgbClr val="0F172A"/>
                </a:solidFill>
                <a:latin typeface="Arial" pitchFamily="34" charset="0"/>
                <a:ea typeface="Arial" pitchFamily="34" charset="-122"/>
                <a:cs typeface="Arial" pitchFamily="34" charset="-120"/>
              </a:rPr>
              <a:t>•  High developer ecosystem support, extensive documentation, and zero proprietary licensing lock-ins.</a:t>
            </a:r>
            <a:endParaRPr lang="en-US" sz="1100" dirty="0"/>
          </a:p>
          <a:p>
            <a:pPr indent="0" marL="0">
              <a:lnSpc>
                <a:spcPts val="1800"/>
              </a:lnSpc>
              <a:buNone/>
            </a:pPr>
            <a:endParaRPr lang="en-US" sz="1100" dirty="0"/>
          </a:p>
          <a:p>
            <a:pPr indent="0" marL="0">
              <a:lnSpc>
                <a:spcPts val="1800"/>
              </a:lnSpc>
              <a:buNone/>
            </a:pPr>
            <a:r>
              <a:rPr lang="en-US" sz="1100" dirty="0">
                <a:solidFill>
                  <a:srgbClr val="0F172A"/>
                </a:solidFill>
                <a:latin typeface="Arial" pitchFamily="34" charset="0"/>
                <a:ea typeface="Arial" pitchFamily="34" charset="-122"/>
                <a:cs typeface="Arial" pitchFamily="34" charset="-120"/>
              </a:rPr>
              <a:t>•  Horizontal scalability enabled by stateless JWT tokens and HikariCP connection pooling.</a:t>
            </a:r>
            <a:endParaRPr lang="en-US" sz="1100" dirty="0"/>
          </a:p>
        </p:txBody>
      </p:sp>
      <p:sp>
        <p:nvSpPr>
          <p:cNvPr id="12" name="Shape 10"/>
          <p:cNvSpPr/>
          <p:nvPr/>
        </p:nvSpPr>
        <p:spPr>
          <a:xfrm>
            <a:off x="4389120" y="1554480"/>
            <a:ext cx="3383280" cy="4389120"/>
          </a:xfrm>
          <a:prstGeom prst="roundRect">
            <a:avLst/>
          </a:prstGeom>
          <a:solidFill>
            <a:srgbClr val="FFFFFF"/>
          </a:solidFill>
          <a:ln w="19050">
            <a:solidFill>
              <a:srgbClr val="E2E8F0"/>
            </a:solidFill>
            <a:prstDash val="solid"/>
          </a:ln>
        </p:spPr>
      </p:sp>
      <p:sp>
        <p:nvSpPr>
          <p:cNvPr id="13" name="Shape 11"/>
          <p:cNvSpPr/>
          <p:nvPr/>
        </p:nvSpPr>
        <p:spPr>
          <a:xfrm>
            <a:off x="4389120" y="1554480"/>
            <a:ext cx="3383280" cy="594360"/>
          </a:xfrm>
          <a:prstGeom prst="roundRect">
            <a:avLst/>
          </a:prstGeom>
          <a:solidFill>
            <a:srgbClr val="0D9488"/>
          </a:solidFill>
          <a:ln/>
        </p:spPr>
      </p:sp>
      <p:sp>
        <p:nvSpPr>
          <p:cNvPr id="14" name="Text 12"/>
          <p:cNvSpPr/>
          <p:nvPr/>
        </p:nvSpPr>
        <p:spPr>
          <a:xfrm>
            <a:off x="4572000" y="1554480"/>
            <a:ext cx="3017520" cy="5943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Operational Feasibility</a:t>
            </a:r>
            <a:endParaRPr lang="en-US" sz="1300" dirty="0"/>
          </a:p>
        </p:txBody>
      </p:sp>
      <p:sp>
        <p:nvSpPr>
          <p:cNvPr id="15" name="Text 13"/>
          <p:cNvSpPr/>
          <p:nvPr/>
        </p:nvSpPr>
        <p:spPr>
          <a:xfrm>
            <a:off x="4663440" y="2331720"/>
            <a:ext cx="2834640" cy="3383280"/>
          </a:xfrm>
          <a:prstGeom prst="rect">
            <a:avLst/>
          </a:prstGeom>
          <a:noFill/>
          <a:ln/>
        </p:spPr>
        <p:txBody>
          <a:bodyPr wrap="square" rtlCol="0" anchor="ctr"/>
          <a:lstStyle/>
          <a:p>
            <a:pPr indent="0" marL="0">
              <a:lnSpc>
                <a:spcPts val="1800"/>
              </a:lnSpc>
              <a:buNone/>
            </a:pPr>
            <a:r>
              <a:rPr lang="en-US" sz="1100" dirty="0">
                <a:solidFill>
                  <a:srgbClr val="0F172A"/>
                </a:solidFill>
                <a:latin typeface="Arial" pitchFamily="34" charset="0"/>
                <a:ea typeface="Arial" pitchFamily="34" charset="-122"/>
                <a:cs typeface="Arial" pitchFamily="34" charset="-120"/>
              </a:rPr>
              <a:t>•  Intuitive UI requires zero technical training for general citizens and municipal field staff.</a:t>
            </a:r>
            <a:endParaRPr lang="en-US" sz="1100" dirty="0"/>
          </a:p>
          <a:p>
            <a:pPr indent="0" marL="0">
              <a:lnSpc>
                <a:spcPts val="1800"/>
              </a:lnSpc>
              <a:buNone/>
            </a:pPr>
            <a:endParaRPr lang="en-US" sz="1100" dirty="0"/>
          </a:p>
          <a:p>
            <a:pPr indent="0" marL="0">
              <a:lnSpc>
                <a:spcPts val="1800"/>
              </a:lnSpc>
              <a:buNone/>
            </a:pPr>
            <a:r>
              <a:rPr lang="en-US" sz="1100" dirty="0">
                <a:solidFill>
                  <a:srgbClr val="0F172A"/>
                </a:solidFill>
                <a:latin typeface="Arial" pitchFamily="34" charset="0"/>
                <a:ea typeface="Arial" pitchFamily="34" charset="-122"/>
                <a:cs typeface="Arial" pitchFamily="34" charset="-120"/>
              </a:rPr>
              <a:t>•  Self-documenting workflows with automated email/in-app notifications for state changes.</a:t>
            </a:r>
            <a:endParaRPr lang="en-US" sz="1100" dirty="0"/>
          </a:p>
          <a:p>
            <a:pPr indent="0" marL="0">
              <a:lnSpc>
                <a:spcPts val="1800"/>
              </a:lnSpc>
              <a:buNone/>
            </a:pPr>
            <a:endParaRPr lang="en-US" sz="1100" dirty="0"/>
          </a:p>
          <a:p>
            <a:pPr indent="0" marL="0">
              <a:lnSpc>
                <a:spcPts val="1800"/>
              </a:lnSpc>
              <a:buNone/>
            </a:pPr>
            <a:r>
              <a:rPr lang="en-US" sz="1100" dirty="0">
                <a:solidFill>
                  <a:srgbClr val="0F172A"/>
                </a:solidFill>
                <a:latin typeface="Arial" pitchFamily="34" charset="0"/>
                <a:ea typeface="Arial" pitchFamily="34" charset="-122"/>
                <a:cs typeface="Arial" pitchFamily="34" charset="-120"/>
              </a:rPr>
              <a:t>•  Seamless integration with standard municipal corporation administrative hierarchies.</a:t>
            </a:r>
            <a:endParaRPr lang="en-US" sz="1100" dirty="0"/>
          </a:p>
        </p:txBody>
      </p:sp>
      <p:sp>
        <p:nvSpPr>
          <p:cNvPr id="16" name="Shape 14"/>
          <p:cNvSpPr/>
          <p:nvPr/>
        </p:nvSpPr>
        <p:spPr>
          <a:xfrm>
            <a:off x="8046720" y="1554480"/>
            <a:ext cx="3383280" cy="4389120"/>
          </a:xfrm>
          <a:prstGeom prst="roundRect">
            <a:avLst/>
          </a:prstGeom>
          <a:solidFill>
            <a:srgbClr val="FFFFFF"/>
          </a:solidFill>
          <a:ln w="19050">
            <a:solidFill>
              <a:srgbClr val="E2E8F0"/>
            </a:solidFill>
            <a:prstDash val="solid"/>
          </a:ln>
        </p:spPr>
      </p:sp>
      <p:sp>
        <p:nvSpPr>
          <p:cNvPr id="17" name="Shape 15"/>
          <p:cNvSpPr/>
          <p:nvPr/>
        </p:nvSpPr>
        <p:spPr>
          <a:xfrm>
            <a:off x="8046720" y="1554480"/>
            <a:ext cx="3383280" cy="594360"/>
          </a:xfrm>
          <a:prstGeom prst="roundRect">
            <a:avLst/>
          </a:prstGeom>
          <a:solidFill>
            <a:srgbClr val="059669"/>
          </a:solidFill>
          <a:ln/>
        </p:spPr>
      </p:sp>
      <p:sp>
        <p:nvSpPr>
          <p:cNvPr id="18" name="Text 16"/>
          <p:cNvSpPr/>
          <p:nvPr/>
        </p:nvSpPr>
        <p:spPr>
          <a:xfrm>
            <a:off x="8229600" y="1554480"/>
            <a:ext cx="3017520" cy="5943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Economic &amp; Social Impact</a:t>
            </a:r>
            <a:endParaRPr lang="en-US" sz="1300" dirty="0"/>
          </a:p>
        </p:txBody>
      </p:sp>
      <p:sp>
        <p:nvSpPr>
          <p:cNvPr id="19" name="Text 17"/>
          <p:cNvSpPr/>
          <p:nvPr/>
        </p:nvSpPr>
        <p:spPr>
          <a:xfrm>
            <a:off x="8321040" y="2331720"/>
            <a:ext cx="2834640" cy="3383280"/>
          </a:xfrm>
          <a:prstGeom prst="rect">
            <a:avLst/>
          </a:prstGeom>
          <a:noFill/>
          <a:ln/>
        </p:spPr>
        <p:txBody>
          <a:bodyPr wrap="square" rtlCol="0" anchor="ctr"/>
          <a:lstStyle/>
          <a:p>
            <a:pPr indent="0" marL="0">
              <a:lnSpc>
                <a:spcPts val="1800"/>
              </a:lnSpc>
              <a:buNone/>
            </a:pPr>
            <a:r>
              <a:rPr lang="en-US" sz="1100" dirty="0">
                <a:solidFill>
                  <a:srgbClr val="0F172A"/>
                </a:solidFill>
                <a:latin typeface="Arial" pitchFamily="34" charset="0"/>
                <a:ea typeface="Arial" pitchFamily="34" charset="-122"/>
                <a:cs typeface="Arial" pitchFamily="34" charset="-120"/>
              </a:rPr>
              <a:t>•  Drastically slashes municipal waste: eliminates up to 70% of duplicate field investigation visits.</a:t>
            </a:r>
            <a:endParaRPr lang="en-US" sz="1100" dirty="0"/>
          </a:p>
          <a:p>
            <a:pPr indent="0" marL="0">
              <a:lnSpc>
                <a:spcPts val="1800"/>
              </a:lnSpc>
              <a:buNone/>
            </a:pPr>
            <a:endParaRPr lang="en-US" sz="1100" dirty="0"/>
          </a:p>
          <a:p>
            <a:pPr indent="0" marL="0">
              <a:lnSpc>
                <a:spcPts val="1800"/>
              </a:lnSpc>
              <a:buNone/>
            </a:pPr>
            <a:r>
              <a:rPr lang="en-US" sz="1100" dirty="0">
                <a:solidFill>
                  <a:srgbClr val="0F172A"/>
                </a:solidFill>
                <a:latin typeface="Arial" pitchFamily="34" charset="0"/>
                <a:ea typeface="Arial" pitchFamily="34" charset="-122"/>
                <a:cs typeface="Arial" pitchFamily="34" charset="-120"/>
              </a:rPr>
              <a:t>•  Enforces contractor accountability: completely removes fraudulent ghost billings for unperformed work.</a:t>
            </a:r>
            <a:endParaRPr lang="en-US" sz="1100" dirty="0"/>
          </a:p>
          <a:p>
            <a:pPr indent="0" marL="0">
              <a:lnSpc>
                <a:spcPts val="1800"/>
              </a:lnSpc>
              <a:buNone/>
            </a:pPr>
            <a:endParaRPr lang="en-US" sz="1100" dirty="0"/>
          </a:p>
          <a:p>
            <a:pPr indent="0" marL="0">
              <a:lnSpc>
                <a:spcPts val="1800"/>
              </a:lnSpc>
              <a:buNone/>
            </a:pPr>
            <a:r>
              <a:rPr lang="en-US" sz="1100" dirty="0">
                <a:solidFill>
                  <a:srgbClr val="0F172A"/>
                </a:solidFill>
                <a:latin typeface="Arial" pitchFamily="34" charset="0"/>
                <a:ea typeface="Arial" pitchFamily="34" charset="-122"/>
                <a:cs typeface="Arial" pitchFamily="34" charset="-120"/>
              </a:rPr>
              <a:t>•  Fosters civic engagement: citizens become active partners in urban maintenance and neighborhood safety.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CHAPTER 5: FUTURE SCOPE</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Future Enhancements &amp; Technology Roadmap</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14 / 16</a:t>
            </a:r>
            <a:endParaRPr lang="en-US" sz="900" dirty="0"/>
          </a:p>
        </p:txBody>
      </p:sp>
      <p:sp>
        <p:nvSpPr>
          <p:cNvPr id="8" name="Shape 6"/>
          <p:cNvSpPr/>
          <p:nvPr/>
        </p:nvSpPr>
        <p:spPr>
          <a:xfrm>
            <a:off x="731520" y="1554480"/>
            <a:ext cx="5257800" cy="2057400"/>
          </a:xfrm>
          <a:prstGeom prst="roundRect">
            <a:avLst/>
          </a:prstGeom>
          <a:solidFill>
            <a:srgbClr val="FFFFFF"/>
          </a:solidFill>
          <a:ln w="19050">
            <a:solidFill>
              <a:srgbClr val="E2E8F0"/>
            </a:solidFill>
            <a:prstDash val="solid"/>
          </a:ln>
        </p:spPr>
      </p:sp>
      <p:sp>
        <p:nvSpPr>
          <p:cNvPr id="9" name="Shape 7"/>
          <p:cNvSpPr/>
          <p:nvPr/>
        </p:nvSpPr>
        <p:spPr>
          <a:xfrm>
            <a:off x="960120" y="1737360"/>
            <a:ext cx="2011680" cy="274320"/>
          </a:xfrm>
          <a:prstGeom prst="roundRect">
            <a:avLst/>
          </a:prstGeom>
          <a:solidFill>
            <a:srgbClr val="2563EB">
              <a:alpha val="15000"/>
            </a:srgbClr>
          </a:solidFill>
          <a:ln w="12700">
            <a:solidFill>
              <a:srgbClr val="2563EB"/>
            </a:solidFill>
            <a:prstDash val="solid"/>
          </a:ln>
        </p:spPr>
      </p:sp>
      <p:sp>
        <p:nvSpPr>
          <p:cNvPr id="10" name="Text 8"/>
          <p:cNvSpPr/>
          <p:nvPr/>
        </p:nvSpPr>
        <p:spPr>
          <a:xfrm>
            <a:off x="960120" y="1737360"/>
            <a:ext cx="2011680" cy="274320"/>
          </a:xfrm>
          <a:prstGeom prst="rect">
            <a:avLst/>
          </a:prstGeom>
          <a:noFill/>
          <a:ln/>
        </p:spPr>
        <p:txBody>
          <a:bodyPr wrap="square" rtlCol="0" anchor="ctr"/>
          <a:lstStyle/>
          <a:p>
            <a:pPr algn="ctr" indent="0" marL="0">
              <a:buNone/>
            </a:pPr>
            <a:r>
              <a:rPr lang="en-US" sz="850" b="1" dirty="0">
                <a:solidFill>
                  <a:srgbClr val="2563EB"/>
                </a:solidFill>
                <a:latin typeface="Arial" pitchFamily="34" charset="0"/>
                <a:ea typeface="Arial" pitchFamily="34" charset="-122"/>
                <a:cs typeface="Arial" pitchFamily="34" charset="-120"/>
              </a:rPr>
              <a:t>PHASE 2: ML INTEGRATION</a:t>
            </a:r>
            <a:endParaRPr lang="en-US" sz="850" dirty="0"/>
          </a:p>
        </p:txBody>
      </p:sp>
      <p:sp>
        <p:nvSpPr>
          <p:cNvPr id="11" name="Text 9"/>
          <p:cNvSpPr/>
          <p:nvPr/>
        </p:nvSpPr>
        <p:spPr>
          <a:xfrm>
            <a:off x="960120" y="2084832"/>
            <a:ext cx="48006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AI Image Verification (Computer Vision)</a:t>
            </a:r>
            <a:endParaRPr lang="en-US" sz="1300" dirty="0"/>
          </a:p>
        </p:txBody>
      </p:sp>
      <p:sp>
        <p:nvSpPr>
          <p:cNvPr id="12" name="Text 10"/>
          <p:cNvSpPr/>
          <p:nvPr/>
        </p:nvSpPr>
        <p:spPr>
          <a:xfrm>
            <a:off x="960120" y="2423160"/>
            <a:ext cx="48006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Arial" pitchFamily="34" charset="0"/>
                <a:ea typeface="Arial" pitchFamily="34" charset="-122"/>
                <a:cs typeface="Arial" pitchFamily="34" charset="-120"/>
              </a:rPr>
              <a:t>Integrate pre-trained Vision AI models (TensorFlow / OpenCV) to automatically classify pothole depth, garbage volume, and verify that resolution photos actually fix the reported issue.</a:t>
            </a:r>
            <a:endParaRPr lang="en-US" sz="1050" dirty="0"/>
          </a:p>
        </p:txBody>
      </p:sp>
      <p:sp>
        <p:nvSpPr>
          <p:cNvPr id="13" name="Shape 11"/>
          <p:cNvSpPr/>
          <p:nvPr/>
        </p:nvSpPr>
        <p:spPr>
          <a:xfrm>
            <a:off x="6172200" y="1554480"/>
            <a:ext cx="5257800" cy="2057400"/>
          </a:xfrm>
          <a:prstGeom prst="roundRect">
            <a:avLst/>
          </a:prstGeom>
          <a:solidFill>
            <a:srgbClr val="FFFFFF"/>
          </a:solidFill>
          <a:ln w="19050">
            <a:solidFill>
              <a:srgbClr val="E2E8F0"/>
            </a:solidFill>
            <a:prstDash val="solid"/>
          </a:ln>
        </p:spPr>
      </p:sp>
      <p:sp>
        <p:nvSpPr>
          <p:cNvPr id="14" name="Shape 12"/>
          <p:cNvSpPr/>
          <p:nvPr/>
        </p:nvSpPr>
        <p:spPr>
          <a:xfrm>
            <a:off x="6400800" y="1737360"/>
            <a:ext cx="2011680" cy="274320"/>
          </a:xfrm>
          <a:prstGeom prst="roundRect">
            <a:avLst/>
          </a:prstGeom>
          <a:solidFill>
            <a:srgbClr val="0D9488">
              <a:alpha val="15000"/>
            </a:srgbClr>
          </a:solidFill>
          <a:ln w="12700">
            <a:solidFill>
              <a:srgbClr val="0D9488"/>
            </a:solidFill>
            <a:prstDash val="solid"/>
          </a:ln>
        </p:spPr>
      </p:sp>
      <p:sp>
        <p:nvSpPr>
          <p:cNvPr id="15" name="Text 13"/>
          <p:cNvSpPr/>
          <p:nvPr/>
        </p:nvSpPr>
        <p:spPr>
          <a:xfrm>
            <a:off x="6400800" y="1737360"/>
            <a:ext cx="2011680" cy="274320"/>
          </a:xfrm>
          <a:prstGeom prst="rect">
            <a:avLst/>
          </a:prstGeom>
          <a:noFill/>
          <a:ln/>
        </p:spPr>
        <p:txBody>
          <a:bodyPr wrap="square" rtlCol="0" anchor="ctr"/>
          <a:lstStyle/>
          <a:p>
            <a:pPr algn="ctr" indent="0" marL="0">
              <a:buNone/>
            </a:pPr>
            <a:r>
              <a:rPr lang="en-US" sz="850" b="1" dirty="0">
                <a:solidFill>
                  <a:srgbClr val="0D9488"/>
                </a:solidFill>
                <a:latin typeface="Arial" pitchFamily="34" charset="0"/>
                <a:ea typeface="Arial" pitchFamily="34" charset="-122"/>
                <a:cs typeface="Arial" pitchFamily="34" charset="-120"/>
              </a:rPr>
              <a:t>PHASE 2: ACCESSIBILITY</a:t>
            </a:r>
            <a:endParaRPr lang="en-US" sz="850" dirty="0"/>
          </a:p>
        </p:txBody>
      </p:sp>
      <p:sp>
        <p:nvSpPr>
          <p:cNvPr id="16" name="Text 14"/>
          <p:cNvSpPr/>
          <p:nvPr/>
        </p:nvSpPr>
        <p:spPr>
          <a:xfrm>
            <a:off x="6400800" y="2084832"/>
            <a:ext cx="48006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WhatsApp &amp; SMS Grievance Bot</a:t>
            </a:r>
            <a:endParaRPr lang="en-US" sz="1300" dirty="0"/>
          </a:p>
        </p:txBody>
      </p:sp>
      <p:sp>
        <p:nvSpPr>
          <p:cNvPr id="17" name="Text 15"/>
          <p:cNvSpPr/>
          <p:nvPr/>
        </p:nvSpPr>
        <p:spPr>
          <a:xfrm>
            <a:off x="6400800" y="2423160"/>
            <a:ext cx="48006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Arial" pitchFamily="34" charset="0"/>
                <a:ea typeface="Arial" pitchFamily="34" charset="-122"/>
                <a:cs typeface="Arial" pitchFamily="34" charset="-120"/>
              </a:rPr>
              <a:t>Enable citizens to report issues directly via WhatsApp Business API by sending GPS live location and a photo, bridging the digital divide for elderly and non-smartphone users.</a:t>
            </a:r>
            <a:endParaRPr lang="en-US" sz="1050" dirty="0"/>
          </a:p>
        </p:txBody>
      </p:sp>
      <p:sp>
        <p:nvSpPr>
          <p:cNvPr id="18" name="Shape 16"/>
          <p:cNvSpPr/>
          <p:nvPr/>
        </p:nvSpPr>
        <p:spPr>
          <a:xfrm>
            <a:off x="731520" y="3794760"/>
            <a:ext cx="5257800" cy="2057400"/>
          </a:xfrm>
          <a:prstGeom prst="roundRect">
            <a:avLst/>
          </a:prstGeom>
          <a:solidFill>
            <a:srgbClr val="FFFFFF"/>
          </a:solidFill>
          <a:ln w="19050">
            <a:solidFill>
              <a:srgbClr val="E2E8F0"/>
            </a:solidFill>
            <a:prstDash val="solid"/>
          </a:ln>
        </p:spPr>
      </p:sp>
      <p:sp>
        <p:nvSpPr>
          <p:cNvPr id="19" name="Shape 17"/>
          <p:cNvSpPr/>
          <p:nvPr/>
        </p:nvSpPr>
        <p:spPr>
          <a:xfrm>
            <a:off x="960120" y="3977640"/>
            <a:ext cx="2011680" cy="274320"/>
          </a:xfrm>
          <a:prstGeom prst="roundRect">
            <a:avLst/>
          </a:prstGeom>
          <a:solidFill>
            <a:srgbClr val="7C3AED">
              <a:alpha val="15000"/>
            </a:srgbClr>
          </a:solidFill>
          <a:ln w="12700">
            <a:solidFill>
              <a:srgbClr val="7C3AED"/>
            </a:solidFill>
            <a:prstDash val="solid"/>
          </a:ln>
        </p:spPr>
      </p:sp>
      <p:sp>
        <p:nvSpPr>
          <p:cNvPr id="20" name="Text 18"/>
          <p:cNvSpPr/>
          <p:nvPr/>
        </p:nvSpPr>
        <p:spPr>
          <a:xfrm>
            <a:off x="960120" y="3977640"/>
            <a:ext cx="2011680" cy="274320"/>
          </a:xfrm>
          <a:prstGeom prst="rect">
            <a:avLst/>
          </a:prstGeom>
          <a:noFill/>
          <a:ln/>
        </p:spPr>
        <p:txBody>
          <a:bodyPr wrap="square" rtlCol="0" anchor="ctr"/>
          <a:lstStyle/>
          <a:p>
            <a:pPr algn="ctr" indent="0" marL="0">
              <a:buNone/>
            </a:pPr>
            <a:r>
              <a:rPr lang="en-US" sz="850" b="1" dirty="0">
                <a:solidFill>
                  <a:srgbClr val="7C3AED"/>
                </a:solidFill>
                <a:latin typeface="Arial" pitchFamily="34" charset="0"/>
                <a:ea typeface="Arial" pitchFamily="34" charset="-122"/>
                <a:cs typeface="Arial" pitchFamily="34" charset="-120"/>
              </a:rPr>
              <a:t>PHASE 3: SMART CITIES</a:t>
            </a:r>
            <a:endParaRPr lang="en-US" sz="850" dirty="0"/>
          </a:p>
        </p:txBody>
      </p:sp>
      <p:sp>
        <p:nvSpPr>
          <p:cNvPr id="21" name="Text 19"/>
          <p:cNvSpPr/>
          <p:nvPr/>
        </p:nvSpPr>
        <p:spPr>
          <a:xfrm>
            <a:off x="960120" y="4325112"/>
            <a:ext cx="48006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Smart City IoT Sensor Integration</a:t>
            </a:r>
            <a:endParaRPr lang="en-US" sz="1300" dirty="0"/>
          </a:p>
        </p:txBody>
      </p:sp>
      <p:sp>
        <p:nvSpPr>
          <p:cNvPr id="22" name="Text 20"/>
          <p:cNvSpPr/>
          <p:nvPr/>
        </p:nvSpPr>
        <p:spPr>
          <a:xfrm>
            <a:off x="960120" y="4663440"/>
            <a:ext cx="48006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Arial" pitchFamily="34" charset="0"/>
                <a:ea typeface="Arial" pitchFamily="34" charset="-122"/>
                <a:cs typeface="Arial" pitchFamily="34" charset="-120"/>
              </a:rPr>
              <a:t>Connect ultrasonic fill-level sensors in public garbage bins and acoustic water leak detectors to automatically spawn prioritized complaints before citizens even notice.</a:t>
            </a:r>
            <a:endParaRPr lang="en-US" sz="1050" dirty="0"/>
          </a:p>
        </p:txBody>
      </p:sp>
      <p:sp>
        <p:nvSpPr>
          <p:cNvPr id="23" name="Shape 21"/>
          <p:cNvSpPr/>
          <p:nvPr/>
        </p:nvSpPr>
        <p:spPr>
          <a:xfrm>
            <a:off x="6172200" y="3794760"/>
            <a:ext cx="5257800" cy="2057400"/>
          </a:xfrm>
          <a:prstGeom prst="roundRect">
            <a:avLst/>
          </a:prstGeom>
          <a:solidFill>
            <a:srgbClr val="FFFFFF"/>
          </a:solidFill>
          <a:ln w="19050">
            <a:solidFill>
              <a:srgbClr val="E2E8F0"/>
            </a:solidFill>
            <a:prstDash val="solid"/>
          </a:ln>
        </p:spPr>
      </p:sp>
      <p:sp>
        <p:nvSpPr>
          <p:cNvPr id="24" name="Shape 22"/>
          <p:cNvSpPr/>
          <p:nvPr/>
        </p:nvSpPr>
        <p:spPr>
          <a:xfrm>
            <a:off x="6400800" y="3977640"/>
            <a:ext cx="2011680" cy="274320"/>
          </a:xfrm>
          <a:prstGeom prst="roundRect">
            <a:avLst/>
          </a:prstGeom>
          <a:solidFill>
            <a:srgbClr val="059669">
              <a:alpha val="15000"/>
            </a:srgbClr>
          </a:solidFill>
          <a:ln w="12700">
            <a:solidFill>
              <a:srgbClr val="059669"/>
            </a:solidFill>
            <a:prstDash val="solid"/>
          </a:ln>
        </p:spPr>
      </p:sp>
      <p:sp>
        <p:nvSpPr>
          <p:cNvPr id="25" name="Text 23"/>
          <p:cNvSpPr/>
          <p:nvPr/>
        </p:nvSpPr>
        <p:spPr>
          <a:xfrm>
            <a:off x="6400800" y="3977640"/>
            <a:ext cx="2011680" cy="274320"/>
          </a:xfrm>
          <a:prstGeom prst="rect">
            <a:avLst/>
          </a:prstGeom>
          <a:noFill/>
          <a:ln/>
        </p:spPr>
        <p:txBody>
          <a:bodyPr wrap="square" rtlCol="0" anchor="ctr"/>
          <a:lstStyle/>
          <a:p>
            <a:pPr algn="ctr" indent="0" marL="0">
              <a:buNone/>
            </a:pPr>
            <a:r>
              <a:rPr lang="en-US" sz="850" b="1" dirty="0">
                <a:solidFill>
                  <a:srgbClr val="059669"/>
                </a:solidFill>
                <a:latin typeface="Arial" pitchFamily="34" charset="0"/>
                <a:ea typeface="Arial" pitchFamily="34" charset="-122"/>
                <a:cs typeface="Arial" pitchFamily="34" charset="-120"/>
              </a:rPr>
              <a:t>PHASE 3: FIELD DEPLOYMENT</a:t>
            </a:r>
            <a:endParaRPr lang="en-US" sz="850" dirty="0"/>
          </a:p>
        </p:txBody>
      </p:sp>
      <p:sp>
        <p:nvSpPr>
          <p:cNvPr id="26" name="Text 24"/>
          <p:cNvSpPr/>
          <p:nvPr/>
        </p:nvSpPr>
        <p:spPr>
          <a:xfrm>
            <a:off x="6400800" y="4325112"/>
            <a:ext cx="4800600" cy="32004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Native Mobile App (React Native)</a:t>
            </a:r>
            <a:endParaRPr lang="en-US" sz="1300" dirty="0"/>
          </a:p>
        </p:txBody>
      </p:sp>
      <p:sp>
        <p:nvSpPr>
          <p:cNvPr id="27" name="Text 25"/>
          <p:cNvSpPr/>
          <p:nvPr/>
        </p:nvSpPr>
        <p:spPr>
          <a:xfrm>
            <a:off x="6400800" y="4663440"/>
            <a:ext cx="4800600" cy="1051560"/>
          </a:xfrm>
          <a:prstGeom prst="rect">
            <a:avLst/>
          </a:prstGeom>
          <a:noFill/>
          <a:ln/>
        </p:spPr>
        <p:txBody>
          <a:bodyPr wrap="square" rtlCol="0" anchor="ctr"/>
          <a:lstStyle/>
          <a:p>
            <a:pPr indent="0" marL="0">
              <a:lnSpc>
                <a:spcPts val="1600"/>
              </a:lnSpc>
              <a:buNone/>
            </a:pPr>
            <a:r>
              <a:rPr lang="en-US" sz="1050" dirty="0">
                <a:solidFill>
                  <a:srgbClr val="475569"/>
                </a:solidFill>
                <a:latin typeface="Arial" pitchFamily="34" charset="0"/>
                <a:ea typeface="Arial" pitchFamily="34" charset="-122"/>
                <a:cs typeface="Arial" pitchFamily="34" charset="-120"/>
              </a:rPr>
              <a:t>Compile shared React components into iOS and Android apps with offline caching, background geofencing, and push notifications for field municipal teams.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011680" cy="292608"/>
          </a:xfrm>
          <a:prstGeom prst="roundRect">
            <a:avLst/>
          </a:prstGeom>
          <a:solidFill>
            <a:srgbClr val="2563EB">
              <a:alpha val="15000"/>
            </a:srgbClr>
          </a:solidFill>
          <a:ln w="12700">
            <a:solidFill>
              <a:srgbClr val="2563EB"/>
            </a:solidFill>
            <a:prstDash val="solid"/>
          </a:ln>
        </p:spPr>
      </p:sp>
      <p:sp>
        <p:nvSpPr>
          <p:cNvPr id="3" name="Text 1"/>
          <p:cNvSpPr/>
          <p:nvPr/>
        </p:nvSpPr>
        <p:spPr>
          <a:xfrm>
            <a:off x="731520" y="411480"/>
            <a:ext cx="2011680" cy="292608"/>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CONCLUSION</a:t>
            </a:r>
            <a:endParaRPr lang="en-US" sz="900" dirty="0"/>
          </a:p>
        </p:txBody>
      </p:sp>
      <p:sp>
        <p:nvSpPr>
          <p:cNvPr id="4" name="Text 2"/>
          <p:cNvSpPr/>
          <p:nvPr/>
        </p:nvSpPr>
        <p:spPr>
          <a:xfrm>
            <a:off x="731520" y="749808"/>
            <a:ext cx="1051560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Summary of Achievements &amp; Engineering Takeaways</a:t>
            </a:r>
            <a:endParaRPr lang="en-US" sz="2200" dirty="0"/>
          </a:p>
        </p:txBody>
      </p:sp>
      <p:sp>
        <p:nvSpPr>
          <p:cNvPr id="5" name="Shape 3"/>
          <p:cNvSpPr/>
          <p:nvPr/>
        </p:nvSpPr>
        <p:spPr>
          <a:xfrm>
            <a:off x="731520" y="1325880"/>
            <a:ext cx="10698480" cy="0"/>
          </a:xfrm>
          <a:prstGeom prst="line">
            <a:avLst/>
          </a:prstGeom>
          <a:noFill/>
          <a:ln w="19050">
            <a:solidFill>
              <a:srgbClr val="E2E8F0"/>
            </a:solidFill>
            <a:prstDash val="solid"/>
          </a:ln>
        </p:spPr>
      </p:sp>
      <p:sp>
        <p:nvSpPr>
          <p:cNvPr id="6" name="Text 4"/>
          <p:cNvSpPr/>
          <p:nvPr/>
        </p:nvSpPr>
        <p:spPr>
          <a:xfrm>
            <a:off x="731520" y="6446520"/>
            <a:ext cx="8229600" cy="320040"/>
          </a:xfrm>
          <a:prstGeom prst="rect">
            <a:avLst/>
          </a:prstGeom>
          <a:noFill/>
          <a:ln/>
        </p:spPr>
        <p:txBody>
          <a:bodyPr wrap="square" rtlCol="0" anchor="ctr"/>
          <a:lstStyle/>
          <a:p>
            <a:pPr indent="0" marL="0">
              <a:buNone/>
            </a:pPr>
            <a:r>
              <a:rPr lang="en-US" sz="900" dirty="0">
                <a:solidFill>
                  <a:srgbClr val="475569"/>
                </a:solidFill>
                <a:latin typeface="Arial" pitchFamily="34" charset="0"/>
                <a:ea typeface="Arial" pitchFamily="34" charset="-122"/>
                <a:cs typeface="Arial" pitchFamily="34" charset="-120"/>
              </a:rPr>
              <a:t>PSIT College of Higher Education, Kanpur | Department of Computer Applications (BCA)</a:t>
            </a:r>
            <a:endParaRPr lang="en-US" sz="900" dirty="0"/>
          </a:p>
        </p:txBody>
      </p:sp>
      <p:sp>
        <p:nvSpPr>
          <p:cNvPr id="7" name="Text 5"/>
          <p:cNvSpPr/>
          <p:nvPr/>
        </p:nvSpPr>
        <p:spPr>
          <a:xfrm>
            <a:off x="9601200" y="6446520"/>
            <a:ext cx="1828800" cy="320040"/>
          </a:xfrm>
          <a:prstGeom prst="rect">
            <a:avLst/>
          </a:prstGeom>
          <a:noFill/>
          <a:ln/>
        </p:spPr>
        <p:txBody>
          <a:bodyPr wrap="square" rtlCol="0" anchor="ctr"/>
          <a:lstStyle/>
          <a:p>
            <a:pPr algn="r" indent="0" marL="0">
              <a:buNone/>
            </a:pPr>
            <a:r>
              <a:rPr lang="en-US" sz="900" b="1" dirty="0">
                <a:solidFill>
                  <a:srgbClr val="2563EB"/>
                </a:solidFill>
                <a:latin typeface="Arial" pitchFamily="34" charset="0"/>
                <a:ea typeface="Arial" pitchFamily="34" charset="-122"/>
                <a:cs typeface="Arial" pitchFamily="34" charset="-120"/>
              </a:rPr>
              <a:t>15 / 16</a:t>
            </a:r>
            <a:endParaRPr lang="en-US" sz="900" dirty="0"/>
          </a:p>
        </p:txBody>
      </p:sp>
      <p:sp>
        <p:nvSpPr>
          <p:cNvPr id="8" name="Shape 6"/>
          <p:cNvSpPr/>
          <p:nvPr/>
        </p:nvSpPr>
        <p:spPr>
          <a:xfrm>
            <a:off x="731520" y="1554480"/>
            <a:ext cx="2468880" cy="1280160"/>
          </a:xfrm>
          <a:prstGeom prst="roundRect">
            <a:avLst/>
          </a:prstGeom>
          <a:solidFill>
            <a:srgbClr val="FFFFFF"/>
          </a:solidFill>
          <a:ln w="19050">
            <a:solidFill>
              <a:srgbClr val="E2E8F0"/>
            </a:solidFill>
            <a:prstDash val="solid"/>
          </a:ln>
        </p:spPr>
      </p:sp>
      <p:sp>
        <p:nvSpPr>
          <p:cNvPr id="9" name="Text 7"/>
          <p:cNvSpPr/>
          <p:nvPr/>
        </p:nvSpPr>
        <p:spPr>
          <a:xfrm>
            <a:off x="822960" y="1691640"/>
            <a:ext cx="2286000" cy="502920"/>
          </a:xfrm>
          <a:prstGeom prst="rect">
            <a:avLst/>
          </a:prstGeom>
          <a:noFill/>
          <a:ln/>
        </p:spPr>
        <p:txBody>
          <a:bodyPr wrap="square" rtlCol="0" anchor="ctr"/>
          <a:lstStyle/>
          <a:p>
            <a:pPr algn="ctr" indent="0" marL="0">
              <a:buNone/>
            </a:pPr>
            <a:r>
              <a:rPr lang="en-US" sz="2200" b="1" dirty="0">
                <a:solidFill>
                  <a:srgbClr val="059669"/>
                </a:solidFill>
                <a:latin typeface="Arial" pitchFamily="34" charset="0"/>
                <a:ea typeface="Arial" pitchFamily="34" charset="-122"/>
                <a:cs typeface="Arial" pitchFamily="34" charset="-120"/>
              </a:rPr>
              <a:t>57 / 57</a:t>
            </a:r>
            <a:endParaRPr lang="en-US" sz="2200" dirty="0"/>
          </a:p>
        </p:txBody>
      </p:sp>
      <p:sp>
        <p:nvSpPr>
          <p:cNvPr id="10" name="Text 8"/>
          <p:cNvSpPr/>
          <p:nvPr/>
        </p:nvSpPr>
        <p:spPr>
          <a:xfrm>
            <a:off x="822960" y="2240280"/>
            <a:ext cx="2286000" cy="41148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Automated Tests Passed</a:t>
            </a:r>
            <a:endParaRPr lang="en-US" sz="1000" dirty="0"/>
          </a:p>
        </p:txBody>
      </p:sp>
      <p:sp>
        <p:nvSpPr>
          <p:cNvPr id="11" name="Shape 9"/>
          <p:cNvSpPr/>
          <p:nvPr/>
        </p:nvSpPr>
        <p:spPr>
          <a:xfrm>
            <a:off x="3474720" y="1554480"/>
            <a:ext cx="2468880" cy="1280160"/>
          </a:xfrm>
          <a:prstGeom prst="roundRect">
            <a:avLst/>
          </a:prstGeom>
          <a:solidFill>
            <a:srgbClr val="FFFFFF"/>
          </a:solidFill>
          <a:ln w="19050">
            <a:solidFill>
              <a:srgbClr val="E2E8F0"/>
            </a:solidFill>
            <a:prstDash val="solid"/>
          </a:ln>
        </p:spPr>
      </p:sp>
      <p:sp>
        <p:nvSpPr>
          <p:cNvPr id="12" name="Text 10"/>
          <p:cNvSpPr/>
          <p:nvPr/>
        </p:nvSpPr>
        <p:spPr>
          <a:xfrm>
            <a:off x="3566160" y="1691640"/>
            <a:ext cx="2286000" cy="502920"/>
          </a:xfrm>
          <a:prstGeom prst="rect">
            <a:avLst/>
          </a:prstGeom>
          <a:noFill/>
          <a:ln/>
        </p:spPr>
        <p:txBody>
          <a:bodyPr wrap="square" rtlCol="0" anchor="ctr"/>
          <a:lstStyle/>
          <a:p>
            <a:pPr algn="ctr" indent="0" marL="0">
              <a:buNone/>
            </a:pPr>
            <a:r>
              <a:rPr lang="en-US" sz="2200" b="1" dirty="0">
                <a:solidFill>
                  <a:srgbClr val="2563EB"/>
                </a:solidFill>
                <a:latin typeface="Arial" pitchFamily="34" charset="0"/>
                <a:ea typeface="Arial" pitchFamily="34" charset="-122"/>
                <a:cs typeface="Arial" pitchFamily="34" charset="-120"/>
              </a:rPr>
              <a:t>10 Tables</a:t>
            </a:r>
            <a:endParaRPr lang="en-US" sz="2200" dirty="0"/>
          </a:p>
        </p:txBody>
      </p:sp>
      <p:sp>
        <p:nvSpPr>
          <p:cNvPr id="13" name="Text 11"/>
          <p:cNvSpPr/>
          <p:nvPr/>
        </p:nvSpPr>
        <p:spPr>
          <a:xfrm>
            <a:off x="3566160" y="2240280"/>
            <a:ext cx="2286000" cy="41148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Normalized Relational Schema (3NF)</a:t>
            </a:r>
            <a:endParaRPr lang="en-US" sz="1000" dirty="0"/>
          </a:p>
        </p:txBody>
      </p:sp>
      <p:sp>
        <p:nvSpPr>
          <p:cNvPr id="14" name="Shape 12"/>
          <p:cNvSpPr/>
          <p:nvPr/>
        </p:nvSpPr>
        <p:spPr>
          <a:xfrm>
            <a:off x="6217920" y="1554480"/>
            <a:ext cx="2468880" cy="1280160"/>
          </a:xfrm>
          <a:prstGeom prst="roundRect">
            <a:avLst/>
          </a:prstGeom>
          <a:solidFill>
            <a:srgbClr val="FFFFFF"/>
          </a:solidFill>
          <a:ln w="19050">
            <a:solidFill>
              <a:srgbClr val="E2E8F0"/>
            </a:solidFill>
            <a:prstDash val="solid"/>
          </a:ln>
        </p:spPr>
      </p:sp>
      <p:sp>
        <p:nvSpPr>
          <p:cNvPr id="15" name="Text 13"/>
          <p:cNvSpPr/>
          <p:nvPr/>
        </p:nvSpPr>
        <p:spPr>
          <a:xfrm>
            <a:off x="6309360" y="1691640"/>
            <a:ext cx="2286000" cy="50292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0–100 SLA</a:t>
            </a:r>
            <a:endParaRPr lang="en-US" sz="2200" dirty="0"/>
          </a:p>
        </p:txBody>
      </p:sp>
      <p:sp>
        <p:nvSpPr>
          <p:cNvPr id="16" name="Text 14"/>
          <p:cNvSpPr/>
          <p:nvPr/>
        </p:nvSpPr>
        <p:spPr>
          <a:xfrm>
            <a:off x="6309360" y="2240280"/>
            <a:ext cx="2286000" cy="41148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Dynamic Urgency Priority Scoring</a:t>
            </a:r>
            <a:endParaRPr lang="en-US" sz="1000" dirty="0"/>
          </a:p>
        </p:txBody>
      </p:sp>
      <p:sp>
        <p:nvSpPr>
          <p:cNvPr id="17" name="Shape 15"/>
          <p:cNvSpPr/>
          <p:nvPr/>
        </p:nvSpPr>
        <p:spPr>
          <a:xfrm>
            <a:off x="8961120" y="1554480"/>
            <a:ext cx="2468880" cy="1280160"/>
          </a:xfrm>
          <a:prstGeom prst="roundRect">
            <a:avLst/>
          </a:prstGeom>
          <a:solidFill>
            <a:srgbClr val="FFFFFF"/>
          </a:solidFill>
          <a:ln w="19050">
            <a:solidFill>
              <a:srgbClr val="E2E8F0"/>
            </a:solidFill>
            <a:prstDash val="solid"/>
          </a:ln>
        </p:spPr>
      </p:sp>
      <p:sp>
        <p:nvSpPr>
          <p:cNvPr id="18" name="Text 16"/>
          <p:cNvSpPr/>
          <p:nvPr/>
        </p:nvSpPr>
        <p:spPr>
          <a:xfrm>
            <a:off x="9052560" y="1691640"/>
            <a:ext cx="2286000" cy="502920"/>
          </a:xfrm>
          <a:prstGeom prst="rect">
            <a:avLst/>
          </a:prstGeom>
          <a:noFill/>
          <a:ln/>
        </p:spPr>
        <p:txBody>
          <a:bodyPr wrap="square" rtlCol="0" anchor="ctr"/>
          <a:lstStyle/>
          <a:p>
            <a:pPr algn="ctr" indent="0" marL="0">
              <a:buNone/>
            </a:pPr>
            <a:r>
              <a:rPr lang="en-US" sz="2200" b="1" dirty="0">
                <a:solidFill>
                  <a:srgbClr val="7C3AED"/>
                </a:solidFill>
                <a:latin typeface="Arial" pitchFamily="34" charset="0"/>
                <a:ea typeface="Arial" pitchFamily="34" charset="-122"/>
                <a:cs typeface="Arial" pitchFamily="34" charset="-120"/>
              </a:rPr>
              <a:t>150m + NLP</a:t>
            </a:r>
            <a:endParaRPr lang="en-US" sz="2200" dirty="0"/>
          </a:p>
        </p:txBody>
      </p:sp>
      <p:sp>
        <p:nvSpPr>
          <p:cNvPr id="19" name="Text 17"/>
          <p:cNvSpPr/>
          <p:nvPr/>
        </p:nvSpPr>
        <p:spPr>
          <a:xfrm>
            <a:off x="9052560" y="2240280"/>
            <a:ext cx="2286000" cy="411480"/>
          </a:xfrm>
          <a:prstGeom prst="rect">
            <a:avLst/>
          </a:prstGeom>
          <a:noFill/>
          <a:ln/>
        </p:spPr>
        <p:txBody>
          <a:bodyPr wrap="square" rtlCol="0" anchor="ctr"/>
          <a:lstStyle/>
          <a:p>
            <a:pPr algn="ctr" indent="0" marL="0">
              <a:buNone/>
            </a:pPr>
            <a:r>
              <a:rPr lang="en-US" sz="1000" b="1" dirty="0">
                <a:solidFill>
                  <a:srgbClr val="0F172A"/>
                </a:solidFill>
                <a:latin typeface="Arial" pitchFamily="34" charset="0"/>
                <a:ea typeface="Arial" pitchFamily="34" charset="-122"/>
                <a:cs typeface="Arial" pitchFamily="34" charset="-120"/>
              </a:rPr>
              <a:t>Geospatial Duplicate Suppression</a:t>
            </a:r>
            <a:endParaRPr lang="en-US" sz="1000" dirty="0"/>
          </a:p>
        </p:txBody>
      </p:sp>
      <p:sp>
        <p:nvSpPr>
          <p:cNvPr id="20" name="Shape 18"/>
          <p:cNvSpPr/>
          <p:nvPr/>
        </p:nvSpPr>
        <p:spPr>
          <a:xfrm>
            <a:off x="731520" y="3017520"/>
            <a:ext cx="10698480" cy="3108960"/>
          </a:xfrm>
          <a:prstGeom prst="roundRect">
            <a:avLst/>
          </a:prstGeom>
          <a:solidFill>
            <a:srgbClr val="FFFFFF"/>
          </a:solidFill>
          <a:ln w="19050">
            <a:solidFill>
              <a:srgbClr val="E2E8F0"/>
            </a:solidFill>
            <a:prstDash val="solid"/>
          </a:ln>
        </p:spPr>
      </p:sp>
      <p:sp>
        <p:nvSpPr>
          <p:cNvPr id="21" name="Text 19"/>
          <p:cNvSpPr/>
          <p:nvPr/>
        </p:nvSpPr>
        <p:spPr>
          <a:xfrm>
            <a:off x="1005840" y="3200400"/>
            <a:ext cx="10149840" cy="320040"/>
          </a:xfrm>
          <a:prstGeom prst="rect">
            <a:avLst/>
          </a:prstGeom>
          <a:noFill/>
          <a:ln/>
        </p:spPr>
        <p:txBody>
          <a:bodyPr wrap="square" rtlCol="0" anchor="ctr"/>
          <a:lstStyle/>
          <a:p>
            <a:pPr indent="0" marL="0">
              <a:buNone/>
            </a:pPr>
            <a:r>
              <a:rPr lang="en-US" sz="1400" b="1" dirty="0">
                <a:solidFill>
                  <a:srgbClr val="1D4ED8"/>
                </a:solidFill>
                <a:latin typeface="Arial" pitchFamily="34" charset="0"/>
                <a:ea typeface="Arial" pitchFamily="34" charset="-122"/>
                <a:cs typeface="Arial" pitchFamily="34" charset="-120"/>
              </a:rPr>
              <a:t>Core Engineering Takeaways &amp; Academic Deliverables:</a:t>
            </a:r>
            <a:endParaRPr lang="en-US" sz="1400" dirty="0"/>
          </a:p>
        </p:txBody>
      </p:sp>
      <p:sp>
        <p:nvSpPr>
          <p:cNvPr id="22" name="Text 20"/>
          <p:cNvSpPr/>
          <p:nvPr/>
        </p:nvSpPr>
        <p:spPr>
          <a:xfrm>
            <a:off x="1005840" y="3611880"/>
            <a:ext cx="10149840" cy="384048"/>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  Successfully solved municipal grievance opacity using modern full-stack decoupled architecture.</a:t>
            </a:r>
            <a:endParaRPr lang="en-US" sz="1150" dirty="0"/>
          </a:p>
        </p:txBody>
      </p:sp>
      <p:sp>
        <p:nvSpPr>
          <p:cNvPr id="23" name="Text 21"/>
          <p:cNvSpPr/>
          <p:nvPr/>
        </p:nvSpPr>
        <p:spPr>
          <a:xfrm>
            <a:off x="1005840" y="4050792"/>
            <a:ext cx="10149840" cy="384048"/>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  Eliminated duplicate ticket congestion using great-circle Haversine trigonometry combined with Jaccard token set similarity.</a:t>
            </a:r>
            <a:endParaRPr lang="en-US" sz="1150" dirty="0"/>
          </a:p>
        </p:txBody>
      </p:sp>
      <p:sp>
        <p:nvSpPr>
          <p:cNvPr id="24" name="Text 22"/>
          <p:cNvSpPr/>
          <p:nvPr/>
        </p:nvSpPr>
        <p:spPr>
          <a:xfrm>
            <a:off x="1005840" y="4489704"/>
            <a:ext cx="10149840" cy="384048"/>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  Replaced inefficient FIFO queues with a fair, automated 0–100 SLA priority formula factoring in safety hazards and community votes.</a:t>
            </a:r>
            <a:endParaRPr lang="en-US" sz="1150" dirty="0"/>
          </a:p>
        </p:txBody>
      </p:sp>
      <p:sp>
        <p:nvSpPr>
          <p:cNvPr id="25" name="Text 23"/>
          <p:cNvSpPr/>
          <p:nvPr/>
        </p:nvSpPr>
        <p:spPr>
          <a:xfrm>
            <a:off x="1005840" y="4928616"/>
            <a:ext cx="10149840" cy="384048"/>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  Enforced zero-trust resolution accountability requiring photographic evidence from field staff before ticket closure.</a:t>
            </a:r>
            <a:endParaRPr lang="en-US" sz="1150" dirty="0"/>
          </a:p>
        </p:txBody>
      </p:sp>
      <p:sp>
        <p:nvSpPr>
          <p:cNvPr id="26" name="Text 24"/>
          <p:cNvSpPr/>
          <p:nvPr/>
        </p:nvSpPr>
        <p:spPr>
          <a:xfrm>
            <a:off x="1005840" y="5367528"/>
            <a:ext cx="10149840" cy="384048"/>
          </a:xfrm>
          <a:prstGeom prst="rect">
            <a:avLst/>
          </a:prstGeom>
          <a:noFill/>
          <a:ln/>
        </p:spPr>
        <p:txBody>
          <a:bodyPr wrap="square" rtlCol="0" anchor="ctr"/>
          <a:lstStyle/>
          <a:p>
            <a:pPr indent="0" marL="0">
              <a:lnSpc>
                <a:spcPts val="1600"/>
              </a:lnSpc>
              <a:buNone/>
            </a:pPr>
            <a:r>
              <a:rPr lang="en-US" sz="1150" dirty="0">
                <a:solidFill>
                  <a:srgbClr val="0F172A"/>
                </a:solidFill>
                <a:latin typeface="Arial" pitchFamily="34" charset="0"/>
                <a:ea typeface="Arial" pitchFamily="34" charset="-122"/>
                <a:cs typeface="Arial" pitchFamily="34" charset="-120"/>
              </a:rPr>
              <a:t>✓  Demonstrated robust software engineering discipline with 57 automated tests, comprehensive documentation, and strict role-based access control.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1097280" y="1371600"/>
            <a:ext cx="9994392" cy="822960"/>
          </a:xfrm>
          <a:prstGeom prst="rect">
            <a:avLst/>
          </a:prstGeom>
          <a:noFill/>
          <a:ln/>
        </p:spPr>
        <p:txBody>
          <a:bodyPr wrap="square"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THANK YOU</a:t>
            </a:r>
            <a:endParaRPr lang="en-US" sz="4600" dirty="0"/>
          </a:p>
        </p:txBody>
      </p:sp>
      <p:sp>
        <p:nvSpPr>
          <p:cNvPr id="3" name="Text 1"/>
          <p:cNvSpPr/>
          <p:nvPr/>
        </p:nvSpPr>
        <p:spPr>
          <a:xfrm>
            <a:off x="1097280" y="2240280"/>
            <a:ext cx="9994392" cy="457200"/>
          </a:xfrm>
          <a:prstGeom prst="rect">
            <a:avLst/>
          </a:prstGeom>
          <a:noFill/>
          <a:ln/>
        </p:spPr>
        <p:txBody>
          <a:bodyPr wrap="square" rtlCol="0" anchor="ctr"/>
          <a:lstStyle/>
          <a:p>
            <a:pPr algn="ctr" indent="0" marL="0">
              <a:buNone/>
            </a:pPr>
            <a:r>
              <a:rPr lang="en-US" sz="2200" b="1" dirty="0">
                <a:solidFill>
                  <a:srgbClr val="60A5FA"/>
                </a:solidFill>
                <a:latin typeface="Arial" pitchFamily="34" charset="0"/>
                <a:ea typeface="Arial" pitchFamily="34" charset="-122"/>
                <a:cs typeface="Arial" pitchFamily="34" charset="-120"/>
              </a:rPr>
              <a:t>Questions &amp; Answers / Viva Discussion</a:t>
            </a:r>
            <a:endParaRPr lang="en-US" sz="2200" dirty="0"/>
          </a:p>
        </p:txBody>
      </p:sp>
      <p:sp>
        <p:nvSpPr>
          <p:cNvPr id="4" name="Shape 2"/>
          <p:cNvSpPr/>
          <p:nvPr/>
        </p:nvSpPr>
        <p:spPr>
          <a:xfrm>
            <a:off x="2286000" y="3017520"/>
            <a:ext cx="7616952" cy="2560320"/>
          </a:xfrm>
          <a:prstGeom prst="roundRect">
            <a:avLst/>
          </a:prstGeom>
          <a:solidFill>
            <a:srgbClr val="1E293B"/>
          </a:solidFill>
          <a:ln w="19050">
            <a:solidFill>
              <a:srgbClr val="334155"/>
            </a:solidFill>
            <a:prstDash val="solid"/>
          </a:ln>
        </p:spPr>
      </p:sp>
      <p:sp>
        <p:nvSpPr>
          <p:cNvPr id="5" name="Text 3"/>
          <p:cNvSpPr/>
          <p:nvPr/>
        </p:nvSpPr>
        <p:spPr>
          <a:xfrm>
            <a:off x="2560320" y="3246120"/>
            <a:ext cx="7068312" cy="32004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Project: CivicFix — Smart Civic Issue Reporting &amp; Resolution Platform</a:t>
            </a:r>
            <a:endParaRPr lang="en-US" sz="1300" dirty="0"/>
          </a:p>
        </p:txBody>
      </p:sp>
      <p:sp>
        <p:nvSpPr>
          <p:cNvPr id="6" name="Text 4"/>
          <p:cNvSpPr/>
          <p:nvPr/>
        </p:nvSpPr>
        <p:spPr>
          <a:xfrm>
            <a:off x="2560320" y="3611880"/>
            <a:ext cx="7068312" cy="32004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Candidate: Omji Savita | Roll No: 24116002349</a:t>
            </a:r>
            <a:endParaRPr lang="en-US" sz="1200" dirty="0"/>
          </a:p>
        </p:txBody>
      </p:sp>
      <p:sp>
        <p:nvSpPr>
          <p:cNvPr id="7" name="Text 5"/>
          <p:cNvSpPr/>
          <p:nvPr/>
        </p:nvSpPr>
        <p:spPr>
          <a:xfrm>
            <a:off x="2560320" y="3977640"/>
            <a:ext cx="7068312" cy="32004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Bachelor of Computer Applications (BCA)</a:t>
            </a:r>
            <a:endParaRPr lang="en-US" sz="1100" dirty="0"/>
          </a:p>
        </p:txBody>
      </p:sp>
      <p:sp>
        <p:nvSpPr>
          <p:cNvPr id="8" name="Text 6"/>
          <p:cNvSpPr/>
          <p:nvPr/>
        </p:nvSpPr>
        <p:spPr>
          <a:xfrm>
            <a:off x="2560320" y="4343400"/>
            <a:ext cx="7068312" cy="548640"/>
          </a:xfrm>
          <a:prstGeom prst="rect">
            <a:avLst/>
          </a:prstGeom>
          <a:noFill/>
          <a:ln/>
        </p:spPr>
        <p:txBody>
          <a:bodyPr wrap="square" rtlCol="0" anchor="ctr"/>
          <a:lstStyle/>
          <a:p>
            <a:pPr algn="ctr" indent="0" marL="0">
              <a:lnSpc>
                <a:spcPts val="1600"/>
              </a:lnSpc>
              <a:buNone/>
            </a:pPr>
            <a:r>
              <a:rPr lang="en-US" sz="1100" dirty="0">
                <a:solidFill>
                  <a:srgbClr val="94A3B8"/>
                </a:solidFill>
                <a:latin typeface="Arial" pitchFamily="34" charset="0"/>
                <a:ea typeface="Arial" pitchFamily="34" charset="-122"/>
                <a:cs typeface="Arial" pitchFamily="34" charset="-120"/>
              </a:rPr>
              <a:t>PSIT College of Higher Education, Kanpur</a:t>
            </a:r>
            <a:endParaRPr lang="en-US" sz="1100" dirty="0"/>
          </a:p>
          <a:p>
            <a:pPr algn="ctr" indent="0" marL="0">
              <a:lnSpc>
                <a:spcPts val="1600"/>
              </a:lnSpc>
              <a:buNone/>
            </a:pPr>
            <a:r>
              <a:rPr lang="en-US" sz="1100" dirty="0">
                <a:solidFill>
                  <a:srgbClr val="94A3B8"/>
                </a:solidFill>
                <a:latin typeface="Arial" pitchFamily="34" charset="0"/>
                <a:ea typeface="Arial" pitchFamily="34" charset="-122"/>
                <a:cs typeface="Arial" pitchFamily="34" charset="-120"/>
              </a:rPr>
              <a:t>(Affiliated to Chhatrapati Shahu Ji Maharaj University, Kanpur)</a:t>
            </a:r>
            <a:endParaRPr lang="en-US" sz="1100" dirty="0"/>
          </a:p>
        </p:txBody>
      </p:sp>
      <p:sp>
        <p:nvSpPr>
          <p:cNvPr id="9" name="Text 7"/>
          <p:cNvSpPr/>
          <p:nvPr/>
        </p:nvSpPr>
        <p:spPr>
          <a:xfrm>
            <a:off x="1097280" y="5852160"/>
            <a:ext cx="9994392" cy="320040"/>
          </a:xfrm>
          <a:prstGeom prst="rect">
            <a:avLst/>
          </a:prstGeom>
          <a:noFill/>
          <a:ln/>
        </p:spPr>
        <p:txBody>
          <a:bodyPr wrap="square"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October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PSIT College of Higher Education, Kanpur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CivicFix — Smart Civic Issue Reporting &amp; Resolution Platform</dc:title>
  <dc:subject>BCA Final Project Presentation</dc:subject>
  <dc:creator>Omji Savita</dc:creator>
  <cp:lastModifiedBy>Omji Savita</cp:lastModifiedBy>
  <cp:revision>1</cp:revision>
  <dcterms:created xsi:type="dcterms:W3CDTF">2026-10-26T07:04:50Z</dcterms:created>
  <dcterms:modified xsi:type="dcterms:W3CDTF">2026-10-26T07:04:50Z</dcterms:modified>
</cp:coreProperties>
</file>